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b606ed7-0820-5a6c-a837-4cc82ac15cb2}">
          <p14:sldIdLst>
            <p14:sldId id="256"/>
            <p14:sldId id="257"/>
          </p14:sldIdLst>
        </p14:section>
        <p14:section name="Literature Survey" id="{d079e711-6d6a-6d0e-3945-ff92ccab00db}">
          <p14:sldIdLst>
            <p14:sldId id="258"/>
          </p14:sldIdLst>
        </p14:section>
        <p14:section name="Proposed Methodology" id="{6755fc65-ff15-0c66-b328-5255c8226bee}">
          <p14:sldIdLst>
            <p14:sldId id="259"/>
            <p14:sldId id="260"/>
          </p14:sldIdLst>
        </p14:section>
        <p14:section name="Implementation" id="{7d711ed3-860b-e0bc-e86c-2780dba40791}">
          <p14:sldIdLst>
            <p14:sldId id="261"/>
            <p14:sldId id="262"/>
            <p14:sldId id="263"/>
          </p14:sldIdLst>
        </p14:section>
        <p14:section name="Results Analysis" id="{b2373b9f-e205-80e5-8dad-f615ce9666c9}">
          <p14:sldIdLst>
            <p14:sldId id="264"/>
            <p14:sldId id="265"/>
          </p14:sldIdLst>
        </p14:section>
        <p14:section name="Novelty" id="{b150bd2e-f68b-bcd4-a52f-e4b60d997610}">
          <p14:sldIdLst>
            <p14:sldId id="266"/>
          </p14:sldIdLst>
        </p14:section>
        <p14:section name="Conclusion" id="{55df662e-7a58-7d43-8b52-79a2da0c01ed}">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A4A"/>
                </a:solidFill>
                <a:latin typeface="+mn-lt"/>
              </a:defRPr>
            </a:pPr>
            <a:r>
              <a:rPr sz="1100" b="0" i="0" u="none" strike="noStrike">
                <a:solidFill>
                  <a:srgbClr val="1E2A4A"/>
                </a:solidFill>
                <a:latin typeface="+mn-lt"/>
              </a:rPr>
              <a:t>CIFAR-10: test accuracy (%) vs round</a:t>
            </a:r>
          </a:p>
        </c:rich>
      </c:tx>
      <c:layout/>
      <c:overlay val="0"/>
    </c:title>
    <c:autoTitleDeleted val="0"/>
    <c:plotArea>
      <c:layout/>
      <c:lineChart>
        <c:varyColors val="0"/>
        <c:ser>
          <c:idx val="0"/>
          <c:order val="0"/>
          <c:tx>
            <c:strRef>
              <c:f>Sheet1!$B$1</c:f>
              <c:strCache>
                <c:ptCount val="1"/>
                <c:pt idx="0">
                  <c:v>FedProto</c:v>
                </c:pt>
              </c:strCache>
            </c:strRef>
          </c:tx>
          <c:spPr>
            <a:solidFill>
              <a:srgbClr val="9AA6BF"/>
            </a:solidFill>
            <a:ln w="25400" cap="flat">
              <a:solidFill>
                <a:srgbClr val="9AA6B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6BF"/>
              </a:solidFill>
              <a:ln w="9525" cap="flat">
                <a:solidFill>
                  <a:srgbClr val="9AA6BF"/>
                </a:solidFill>
                <a:prstDash val="solid"/>
                <a:round/>
              </a:ln>
              <a:effectLst/>
            </c:spPr>
          </c:marker>
          <c:cat>
            <c:multiLvlStrRef>
              <c:f>Sheet1!$A$2:$A$52</c:f>
              <c:multiLvlStrCache>
                <c:ptCount val="5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lvl>
              </c:multiLvlStrCache>
            </c:multiLvlStrRef>
          </c:cat>
          <c:val>
            <c:numRef>
              <c:f>Sheet1!$B$2:$B$52</c:f>
              <c:numCache>
                <c:formatCode>General</c:formatCode>
                <c:ptCount val="51"/>
                <c:pt idx="0">
                  <c:v>0</c:v>
                </c:pt>
                <c:pt idx="1">
                  <c:v>23.41</c:v>
                </c:pt>
                <c:pt idx="2">
                  <c:v>54.52</c:v>
                </c:pt>
                <c:pt idx="3">
                  <c:v>49.5</c:v>
                </c:pt>
                <c:pt idx="4">
                  <c:v>58.38</c:v>
                </c:pt>
                <c:pt idx="5">
                  <c:v>62.46</c:v>
                </c:pt>
                <c:pt idx="6">
                  <c:v>68.02</c:v>
                </c:pt>
                <c:pt idx="7">
                  <c:v>68</c:v>
                </c:pt>
                <c:pt idx="8">
                  <c:v>70.92</c:v>
                </c:pt>
                <c:pt idx="9">
                  <c:v>73.79</c:v>
                </c:pt>
                <c:pt idx="10">
                  <c:v>75.17</c:v>
                </c:pt>
                <c:pt idx="11">
                  <c:v>75.5</c:v>
                </c:pt>
                <c:pt idx="12">
                  <c:v>76.71</c:v>
                </c:pt>
                <c:pt idx="13">
                  <c:v>76.69</c:v>
                </c:pt>
                <c:pt idx="14">
                  <c:v>77.25</c:v>
                </c:pt>
                <c:pt idx="15">
                  <c:v>77.59</c:v>
                </c:pt>
                <c:pt idx="16">
                  <c:v>77.74</c:v>
                </c:pt>
                <c:pt idx="17">
                  <c:v>77.45</c:v>
                </c:pt>
                <c:pt idx="18">
                  <c:v>78.47</c:v>
                </c:pt>
                <c:pt idx="19">
                  <c:v>79.41</c:v>
                </c:pt>
                <c:pt idx="20">
                  <c:v>79.79</c:v>
                </c:pt>
                <c:pt idx="21">
                  <c:v>79.58</c:v>
                </c:pt>
                <c:pt idx="22">
                  <c:v>80.29</c:v>
                </c:pt>
                <c:pt idx="23">
                  <c:v>80.39</c:v>
                </c:pt>
                <c:pt idx="24">
                  <c:v>80.66</c:v>
                </c:pt>
                <c:pt idx="25">
                  <c:v>80.73</c:v>
                </c:pt>
                <c:pt idx="26">
                  <c:v>80.77</c:v>
                </c:pt>
                <c:pt idx="27">
                  <c:v>81.17</c:v>
                </c:pt>
                <c:pt idx="28">
                  <c:v>81.53</c:v>
                </c:pt>
                <c:pt idx="29">
                  <c:v>81.59</c:v>
                </c:pt>
                <c:pt idx="30">
                  <c:v>81.78</c:v>
                </c:pt>
                <c:pt idx="31">
                  <c:v>81.68</c:v>
                </c:pt>
                <c:pt idx="32">
                  <c:v>82.37</c:v>
                </c:pt>
                <c:pt idx="33">
                  <c:v>80.91</c:v>
                </c:pt>
                <c:pt idx="34">
                  <c:v>81.43</c:v>
                </c:pt>
                <c:pt idx="35">
                  <c:v>81.89</c:v>
                </c:pt>
                <c:pt idx="36">
                  <c:v>82.18</c:v>
                </c:pt>
                <c:pt idx="37">
                  <c:v>81.94</c:v>
                </c:pt>
                <c:pt idx="38">
                  <c:v>81.85</c:v>
                </c:pt>
                <c:pt idx="39">
                  <c:v>81.91</c:v>
                </c:pt>
                <c:pt idx="40">
                  <c:v>82.25</c:v>
                </c:pt>
                <c:pt idx="41">
                  <c:v>81.82</c:v>
                </c:pt>
                <c:pt idx="42">
                  <c:v>82.16</c:v>
                </c:pt>
                <c:pt idx="43">
                  <c:v>81.99</c:v>
                </c:pt>
                <c:pt idx="44">
                  <c:v>82.32</c:v>
                </c:pt>
                <c:pt idx="45">
                  <c:v>82.07</c:v>
                </c:pt>
                <c:pt idx="46">
                  <c:v>82.37</c:v>
                </c:pt>
                <c:pt idx="47">
                  <c:v>82.39</c:v>
                </c:pt>
                <c:pt idx="48">
                  <c:v>82.52</c:v>
                </c:pt>
                <c:pt idx="49">
                  <c:v>82.13</c:v>
                </c:pt>
                <c:pt idx="50">
                  <c:v>82.31</c:v>
                </c:pt>
              </c:numCache>
            </c:numRef>
          </c:val>
          <c:smooth val="0"/>
        </c:ser>
        <c:ser>
          <c:idx val="1"/>
          <c:order val="1"/>
          <c:tx>
            <c:strRef>
              <c:f>Sheet1!$C$1</c:f>
              <c:strCache>
                <c:ptCount val="1"/>
                <c:pt idx="0">
                  <c:v>LG-FedAvg</c:v>
                </c:pt>
              </c:strCache>
            </c:strRef>
          </c:tx>
          <c:spPr>
            <a:solidFill>
              <a:srgbClr val="1E2A4A"/>
            </a:solidFill>
            <a:ln w="25400" cap="flat">
              <a:solidFill>
                <a:srgbClr val="1E2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A4A"/>
              </a:solidFill>
              <a:ln w="9525" cap="flat">
                <a:solidFill>
                  <a:srgbClr val="1E2A4A"/>
                </a:solidFill>
                <a:prstDash val="solid"/>
                <a:round/>
              </a:ln>
              <a:effectLst/>
            </c:spPr>
          </c:marker>
          <c:cat>
            <c:multiLvlStrRef>
              <c:f>Sheet1!$A$2:$A$52</c:f>
              <c:multiLvlStrCache>
                <c:ptCount val="5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lvl>
              </c:multiLvlStrCache>
            </c:multiLvlStrRef>
          </c:cat>
          <c:val>
            <c:numRef>
              <c:f>Sheet1!$C$2:$C$52</c:f>
              <c:numCache>
                <c:formatCode>General</c:formatCode>
                <c:ptCount val="51"/>
                <c:pt idx="0">
                  <c:v>11.73</c:v>
                </c:pt>
                <c:pt idx="1">
                  <c:v>43.42</c:v>
                </c:pt>
                <c:pt idx="2">
                  <c:v>48.1</c:v>
                </c:pt>
                <c:pt idx="3">
                  <c:v>53.02</c:v>
                </c:pt>
                <c:pt idx="4">
                  <c:v>62.42</c:v>
                </c:pt>
                <c:pt idx="5">
                  <c:v>70.19</c:v>
                </c:pt>
                <c:pt idx="6">
                  <c:v>73.58</c:v>
                </c:pt>
                <c:pt idx="7">
                  <c:v>76.73</c:v>
                </c:pt>
                <c:pt idx="8">
                  <c:v>78.33</c:v>
                </c:pt>
                <c:pt idx="9">
                  <c:v>79.99</c:v>
                </c:pt>
                <c:pt idx="10">
                  <c:v>81.43</c:v>
                </c:pt>
                <c:pt idx="11">
                  <c:v>82.42</c:v>
                </c:pt>
                <c:pt idx="12">
                  <c:v>83.16</c:v>
                </c:pt>
                <c:pt idx="13">
                  <c:v>83.52</c:v>
                </c:pt>
                <c:pt idx="14">
                  <c:v>83.83</c:v>
                </c:pt>
                <c:pt idx="15">
                  <c:v>84.15</c:v>
                </c:pt>
                <c:pt idx="16">
                  <c:v>84.38</c:v>
                </c:pt>
                <c:pt idx="17">
                  <c:v>84.53</c:v>
                </c:pt>
                <c:pt idx="18">
                  <c:v>84.49</c:v>
                </c:pt>
                <c:pt idx="19">
                  <c:v>84.63</c:v>
                </c:pt>
                <c:pt idx="20">
                  <c:v>84.76</c:v>
                </c:pt>
                <c:pt idx="21">
                  <c:v>84.88</c:v>
                </c:pt>
                <c:pt idx="22">
                  <c:v>85.02</c:v>
                </c:pt>
                <c:pt idx="23">
                  <c:v>85.12</c:v>
                </c:pt>
                <c:pt idx="24">
                  <c:v>85.31</c:v>
                </c:pt>
                <c:pt idx="25">
                  <c:v>84.61</c:v>
                </c:pt>
                <c:pt idx="26">
                  <c:v>85.04</c:v>
                </c:pt>
                <c:pt idx="27">
                  <c:v>85.29</c:v>
                </c:pt>
                <c:pt idx="28">
                  <c:v>85.45</c:v>
                </c:pt>
                <c:pt idx="29">
                  <c:v>85.5</c:v>
                </c:pt>
                <c:pt idx="30">
                  <c:v>85.59</c:v>
                </c:pt>
                <c:pt idx="31">
                  <c:v>85.68</c:v>
                </c:pt>
                <c:pt idx="32">
                  <c:v>85.68</c:v>
                </c:pt>
                <c:pt idx="33">
                  <c:v>85.79</c:v>
                </c:pt>
                <c:pt idx="34">
                  <c:v>85.83</c:v>
                </c:pt>
                <c:pt idx="35">
                  <c:v>85.83</c:v>
                </c:pt>
                <c:pt idx="36">
                  <c:v>85.9</c:v>
                </c:pt>
                <c:pt idx="37">
                  <c:v>85.94</c:v>
                </c:pt>
                <c:pt idx="38">
                  <c:v>85.99</c:v>
                </c:pt>
                <c:pt idx="39">
                  <c:v>86</c:v>
                </c:pt>
                <c:pt idx="40">
                  <c:v>86.02</c:v>
                </c:pt>
                <c:pt idx="41">
                  <c:v>86.05</c:v>
                </c:pt>
                <c:pt idx="42">
                  <c:v>86.09</c:v>
                </c:pt>
                <c:pt idx="43">
                  <c:v>86.14</c:v>
                </c:pt>
                <c:pt idx="44">
                  <c:v>86.16</c:v>
                </c:pt>
                <c:pt idx="45">
                  <c:v>86.16</c:v>
                </c:pt>
                <c:pt idx="46">
                  <c:v>86.22</c:v>
                </c:pt>
                <c:pt idx="47">
                  <c:v>86.3</c:v>
                </c:pt>
                <c:pt idx="48">
                  <c:v>86.31</c:v>
                </c:pt>
                <c:pt idx="49">
                  <c:v>86.31</c:v>
                </c:pt>
                <c:pt idx="50">
                  <c:v>86.36</c:v>
                </c:pt>
              </c:numCache>
            </c:numRef>
          </c:val>
          <c:smooth val="0"/>
        </c:ser>
        <c:ser>
          <c:idx val="2"/>
          <c:order val="2"/>
          <c:tx>
            <c:strRef>
              <c:f>Sheet1!$D$1</c:f>
              <c:strCache>
                <c:ptCount val="1"/>
                <c:pt idx="0">
                  <c:v>Fed-GDBD (faithful)</c:v>
                </c:pt>
              </c:strCache>
            </c:strRef>
          </c:tx>
          <c:spPr>
            <a:solidFill>
              <a:srgbClr val="C0504D"/>
            </a:solidFill>
            <a:ln w="25400" cap="flat">
              <a:solidFill>
                <a:srgbClr val="C050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0504D"/>
              </a:solidFill>
              <a:ln w="9525" cap="flat">
                <a:solidFill>
                  <a:srgbClr val="C0504D"/>
                </a:solidFill>
                <a:prstDash val="solid"/>
                <a:round/>
              </a:ln>
              <a:effectLst/>
            </c:spPr>
          </c:marker>
          <c:cat>
            <c:multiLvlStrRef>
              <c:f>Sheet1!$A$2:$A$52</c:f>
              <c:multiLvlStrCache>
                <c:ptCount val="5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lvl>
              </c:multiLvlStrCache>
            </c:multiLvlStrRef>
          </c:cat>
          <c:val>
            <c:numRef>
              <c:f>Sheet1!$D$2:$D$52</c:f>
              <c:numCache>
                <c:formatCode>General</c:formatCode>
                <c:ptCount val="51"/>
                <c:pt idx="0">
                  <c:v>84.64</c:v>
                </c:pt>
                <c:pt idx="1">
                  <c:v>85.7</c:v>
                </c:pt>
                <c:pt idx="2">
                  <c:v>85.48</c:v>
                </c:pt>
                <c:pt idx="3">
                  <c:v>85.21</c:v>
                </c:pt>
                <c:pt idx="4">
                  <c:v>83.02</c:v>
                </c:pt>
                <c:pt idx="5">
                  <c:v>81.81</c:v>
                </c:pt>
                <c:pt idx="6">
                  <c:v>79.15</c:v>
                </c:pt>
                <c:pt idx="7">
                  <c:v>77.6</c:v>
                </c:pt>
                <c:pt idx="8">
                  <c:v>77.87</c:v>
                </c:pt>
                <c:pt idx="9">
                  <c:v>75.47</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numCache>
            </c:numRef>
          </c:val>
          <c:smooth val="0"/>
        </c:ser>
        <c:ser>
          <c:idx val="3"/>
          <c:order val="3"/>
          <c:tx>
            <c:strRef>
              <c:f>Sheet1!$E$1</c:f>
              <c:strCache>
                <c:ptCount val="1"/>
                <c:pt idx="0">
                  <c:v>FedGDBD-S (ours)</c:v>
                </c:pt>
              </c:strCache>
            </c:strRef>
          </c:tx>
          <c:spPr>
            <a:solidFill>
              <a:srgbClr val="1C7293"/>
            </a:solidFill>
            <a:ln w="25400" cap="flat">
              <a:solidFill>
                <a:srgbClr val="1C729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C7293"/>
              </a:solidFill>
              <a:ln w="9525" cap="flat">
                <a:solidFill>
                  <a:srgbClr val="1C7293"/>
                </a:solidFill>
                <a:prstDash val="solid"/>
                <a:round/>
              </a:ln>
              <a:effectLst/>
            </c:spPr>
          </c:marker>
          <c:cat>
            <c:multiLvlStrRef>
              <c:f>Sheet1!$A$2:$A$52</c:f>
              <c:multiLvlStrCache>
                <c:ptCount val="5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lvl>
              </c:multiLvlStrCache>
            </c:multiLvlStrRef>
          </c:cat>
          <c:val>
            <c:numRef>
              <c:f>Sheet1!$E$2:$E$52</c:f>
              <c:numCache>
                <c:formatCode>General</c:formatCode>
                <c:ptCount val="51"/>
                <c:pt idx="0">
                  <c:v>84.97</c:v>
                </c:pt>
                <c:pt idx="1">
                  <c:v>85.57</c:v>
                </c:pt>
                <c:pt idx="2">
                  <c:v>86.46</c:v>
                </c:pt>
                <c:pt idx="3">
                  <c:v>86.7</c:v>
                </c:pt>
                <c:pt idx="4">
                  <c:v>86.57</c:v>
                </c:pt>
                <c:pt idx="5">
                  <c:v>86.84</c:v>
                </c:pt>
                <c:pt idx="6">
                  <c:v>86.86</c:v>
                </c:pt>
                <c:pt idx="7">
                  <c:v>87.03</c:v>
                </c:pt>
                <c:pt idx="8">
                  <c:v>87.07</c:v>
                </c:pt>
                <c:pt idx="9">
                  <c:v>87</c:v>
                </c:pt>
                <c:pt idx="10">
                  <c:v>87.04</c:v>
                </c:pt>
                <c:pt idx="11">
                  <c:v>86.92</c:v>
                </c:pt>
                <c:pt idx="12">
                  <c:v>86.86</c:v>
                </c:pt>
                <c:pt idx="13">
                  <c:v>86.99</c:v>
                </c:pt>
                <c:pt idx="14">
                  <c:v>87</c:v>
                </c:pt>
                <c:pt idx="15">
                  <c:v>86.95</c:v>
                </c:pt>
                <c:pt idx="16">
                  <c:v>86.92</c:v>
                </c:pt>
                <c:pt idx="17">
                  <c:v>87.02</c:v>
                </c:pt>
                <c:pt idx="18">
                  <c:v>86.99</c:v>
                </c:pt>
                <c:pt idx="19">
                  <c:v>86.93</c:v>
                </c:pt>
                <c:pt idx="20">
                  <c:v>86.98</c:v>
                </c:pt>
                <c:pt idx="21">
                  <c:v>86.88</c:v>
                </c:pt>
                <c:pt idx="22">
                  <c:v>86.87</c:v>
                </c:pt>
                <c:pt idx="23">
                  <c:v>86.98</c:v>
                </c:pt>
                <c:pt idx="24">
                  <c:v>86.96</c:v>
                </c:pt>
                <c:pt idx="25">
                  <c:v>86.94</c:v>
                </c:pt>
                <c:pt idx="26">
                  <c:v>86.98</c:v>
                </c:pt>
                <c:pt idx="27">
                  <c:v>86.97</c:v>
                </c:pt>
                <c:pt idx="28">
                  <c:v>86.96</c:v>
                </c:pt>
                <c:pt idx="29">
                  <c:v>87.06</c:v>
                </c:pt>
                <c:pt idx="30">
                  <c:v>87.02</c:v>
                </c:pt>
                <c:pt idx="31">
                  <c:v>87.06</c:v>
                </c:pt>
                <c:pt idx="32">
                  <c:v>86.98</c:v>
                </c:pt>
                <c:pt idx="33">
                  <c:v>87.06</c:v>
                </c:pt>
                <c:pt idx="34">
                  <c:v>87.1</c:v>
                </c:pt>
                <c:pt idx="35">
                  <c:v>86.97</c:v>
                </c:pt>
                <c:pt idx="36">
                  <c:v>87.02</c:v>
                </c:pt>
                <c:pt idx="37">
                  <c:v>87.06</c:v>
                </c:pt>
                <c:pt idx="38">
                  <c:v>86.93</c:v>
                </c:pt>
                <c:pt idx="39">
                  <c:v>87.1</c:v>
                </c:pt>
                <c:pt idx="40">
                  <c:v>87.04</c:v>
                </c:pt>
                <c:pt idx="41">
                  <c:v>87.02</c:v>
                </c:pt>
                <c:pt idx="42">
                  <c:v>86.97</c:v>
                </c:pt>
                <c:pt idx="43">
                  <c:v>86.92</c:v>
                </c:pt>
                <c:pt idx="44">
                  <c:v>86.99</c:v>
                </c:pt>
                <c:pt idx="45">
                  <c:v>87.03</c:v>
                </c:pt>
                <c:pt idx="46">
                  <c:v>86.93</c:v>
                </c:pt>
                <c:pt idx="47">
                  <c:v>86.98</c:v>
                </c:pt>
                <c:pt idx="48">
                  <c:v>86.99</c:v>
                </c:pt>
                <c:pt idx="49">
                  <c:v>86.98</c:v>
                </c:pt>
                <c:pt idx="50">
                  <c:v>87.06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8"/>
                </a:solidFill>
                <a:latin typeface="+mn-lt"/>
              </a:defRPr>
            </a:pPr>
            <a:endParaRPr lang="en-US"/>
          </a:p>
        </c:txPr>
        <c:crossAx val="2094734552"/>
        <c:crosses val="autoZero"/>
        <c:auto val="1"/>
        <c:lblAlgn val="ctr"/>
        <c:noMultiLvlLbl val="1"/>
        <c:tickLblSkip val="10"/>
      </c:catAx>
      <c:valAx>
        <c:axId val="2094734552"/>
        <c:scaling>
          <c:orientation val="minMax"/>
          <c:max val="90"/>
          <c:min val="50"/>
        </c:scaling>
        <c:delete val="0"/>
        <c:axPos val="l"/>
        <c:majorGridlines>
          <c:spPr>
            <a:ln w="6350" cap="flat">
              <a:solidFill>
                <a:srgbClr val="D8DC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B6478"/>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A4A"/>
                </a:solidFill>
                <a:latin typeface="+mn-lt"/>
              </a:defRPr>
            </a:pPr>
            <a:r>
              <a:rPr sz="1100" b="0" i="0" u="none" strike="noStrike">
                <a:solidFill>
                  <a:srgbClr val="1E2A4A"/>
                </a:solidFill>
                <a:latin typeface="+mn-lt"/>
              </a:rPr>
              <a:t>CIFAR-100: test accuracy (%) vs round</a:t>
            </a:r>
          </a:p>
        </c:rich>
      </c:tx>
      <c:layout/>
      <c:overlay val="0"/>
    </c:title>
    <c:autoTitleDeleted val="0"/>
    <c:plotArea>
      <c:layout/>
      <c:lineChart>
        <c:varyColors val="0"/>
        <c:ser>
          <c:idx val="0"/>
          <c:order val="0"/>
          <c:tx>
            <c:strRef>
              <c:f>Sheet1!$B$1</c:f>
              <c:strCache>
                <c:ptCount val="1"/>
                <c:pt idx="0">
                  <c:v>FedProto</c:v>
                </c:pt>
              </c:strCache>
            </c:strRef>
          </c:tx>
          <c:spPr>
            <a:solidFill>
              <a:srgbClr val="9AA6BF"/>
            </a:solidFill>
            <a:ln w="25400" cap="flat">
              <a:solidFill>
                <a:srgbClr val="9AA6B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6BF"/>
              </a:solidFill>
              <a:ln w="9525" cap="flat">
                <a:solidFill>
                  <a:srgbClr val="9AA6BF"/>
                </a:solidFill>
                <a:prstDash val="solid"/>
                <a:round/>
              </a:ln>
              <a:effectLst/>
            </c:spPr>
          </c:marker>
          <c:cat>
            <c:multiLvlStrRef>
              <c:f>Sheet1!$A$2:$A$52</c:f>
              <c:multiLvlStrCache>
                <c:ptCount val="5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lvl>
              </c:multiLvlStrCache>
            </c:multiLvlStrRef>
          </c:cat>
          <c:val>
            <c:numRef>
              <c:f>Sheet1!$B$2:$B$52</c:f>
              <c:numCache>
                <c:formatCode>General</c:formatCode>
                <c:ptCount val="51"/>
                <c:pt idx="0">
                  <c:v>0</c:v>
                </c:pt>
                <c:pt idx="1">
                  <c:v>8.9</c:v>
                </c:pt>
                <c:pt idx="2">
                  <c:v>21.74</c:v>
                </c:pt>
                <c:pt idx="3">
                  <c:v>25.85</c:v>
                </c:pt>
                <c:pt idx="4">
                  <c:v>27.62</c:v>
                </c:pt>
                <c:pt idx="5">
                  <c:v>28.95</c:v>
                </c:pt>
                <c:pt idx="6">
                  <c:v>31.26</c:v>
                </c:pt>
                <c:pt idx="7">
                  <c:v>32.02</c:v>
                </c:pt>
                <c:pt idx="8">
                  <c:v>32.09</c:v>
                </c:pt>
                <c:pt idx="9">
                  <c:v>32.62</c:v>
                </c:pt>
                <c:pt idx="10">
                  <c:v>33.57</c:v>
                </c:pt>
                <c:pt idx="11">
                  <c:v>34.65</c:v>
                </c:pt>
                <c:pt idx="12">
                  <c:v>34.81</c:v>
                </c:pt>
                <c:pt idx="13">
                  <c:v>35.5</c:v>
                </c:pt>
                <c:pt idx="14">
                  <c:v>35.89</c:v>
                </c:pt>
                <c:pt idx="15">
                  <c:v>35.66</c:v>
                </c:pt>
                <c:pt idx="16">
                  <c:v>36.02</c:v>
                </c:pt>
                <c:pt idx="17">
                  <c:v>35.78</c:v>
                </c:pt>
                <c:pt idx="18">
                  <c:v>35.32</c:v>
                </c:pt>
                <c:pt idx="19">
                  <c:v>34.89</c:v>
                </c:pt>
                <c:pt idx="20">
                  <c:v>35.89</c:v>
                </c:pt>
                <c:pt idx="21">
                  <c:v>36.67</c:v>
                </c:pt>
                <c:pt idx="22">
                  <c:v>37.2</c:v>
                </c:pt>
                <c:pt idx="23">
                  <c:v>37.53</c:v>
                </c:pt>
                <c:pt idx="24">
                  <c:v>37.57</c:v>
                </c:pt>
                <c:pt idx="25">
                  <c:v>38.08</c:v>
                </c:pt>
                <c:pt idx="26">
                  <c:v>37.89</c:v>
                </c:pt>
                <c:pt idx="27">
                  <c:v>38.11</c:v>
                </c:pt>
                <c:pt idx="28">
                  <c:v>38.48</c:v>
                </c:pt>
                <c:pt idx="29">
                  <c:v>38.23</c:v>
                </c:pt>
                <c:pt idx="30">
                  <c:v>38.47</c:v>
                </c:pt>
                <c:pt idx="31">
                  <c:v>38.51</c:v>
                </c:pt>
                <c:pt idx="32">
                  <c:v>38.65</c:v>
                </c:pt>
                <c:pt idx="33">
                  <c:v>38.6</c:v>
                </c:pt>
                <c:pt idx="34">
                  <c:v>37.95</c:v>
                </c:pt>
                <c:pt idx="35">
                  <c:v>38.42</c:v>
                </c:pt>
                <c:pt idx="36">
                  <c:v>38.67</c:v>
                </c:pt>
                <c:pt idx="37">
                  <c:v>38.69</c:v>
                </c:pt>
                <c:pt idx="38">
                  <c:v>38.97</c:v>
                </c:pt>
                <c:pt idx="39">
                  <c:v>39.07</c:v>
                </c:pt>
                <c:pt idx="40">
                  <c:v>39.01</c:v>
                </c:pt>
                <c:pt idx="41">
                  <c:v>39.06</c:v>
                </c:pt>
                <c:pt idx="42">
                  <c:v>38.93</c:v>
                </c:pt>
                <c:pt idx="43">
                  <c:v>39.14</c:v>
                </c:pt>
                <c:pt idx="44">
                  <c:v>39.2</c:v>
                </c:pt>
                <c:pt idx="45">
                  <c:v>39.27</c:v>
                </c:pt>
                <c:pt idx="46">
                  <c:v>39.23</c:v>
                </c:pt>
                <c:pt idx="47">
                  <c:v>39.46</c:v>
                </c:pt>
                <c:pt idx="48">
                  <c:v>39.23</c:v>
                </c:pt>
                <c:pt idx="49">
                  <c:v>39.5</c:v>
                </c:pt>
                <c:pt idx="50">
                  <c:v>39.51</c:v>
                </c:pt>
              </c:numCache>
            </c:numRef>
          </c:val>
          <c:smooth val="0"/>
        </c:ser>
        <c:ser>
          <c:idx val="1"/>
          <c:order val="1"/>
          <c:tx>
            <c:strRef>
              <c:f>Sheet1!$C$1</c:f>
              <c:strCache>
                <c:ptCount val="1"/>
                <c:pt idx="0">
                  <c:v>LG-FedAvg</c:v>
                </c:pt>
              </c:strCache>
            </c:strRef>
          </c:tx>
          <c:spPr>
            <a:solidFill>
              <a:srgbClr val="1E2A4A"/>
            </a:solidFill>
            <a:ln w="25400" cap="flat">
              <a:solidFill>
                <a:srgbClr val="1E2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A4A"/>
              </a:solidFill>
              <a:ln w="9525" cap="flat">
                <a:solidFill>
                  <a:srgbClr val="1E2A4A"/>
                </a:solidFill>
                <a:prstDash val="solid"/>
                <a:round/>
              </a:ln>
              <a:effectLst/>
            </c:spPr>
          </c:marker>
          <c:cat>
            <c:multiLvlStrRef>
              <c:f>Sheet1!$A$2:$A$52</c:f>
              <c:multiLvlStrCache>
                <c:ptCount val="5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lvl>
              </c:multiLvlStrCache>
            </c:multiLvlStrRef>
          </c:cat>
          <c:val>
            <c:numRef>
              <c:f>Sheet1!$C$2:$C$52</c:f>
              <c:numCache>
                <c:formatCode>General</c:formatCode>
                <c:ptCount val="51"/>
                <c:pt idx="0">
                  <c:v>1.08</c:v>
                </c:pt>
                <c:pt idx="1">
                  <c:v>24.73</c:v>
                </c:pt>
                <c:pt idx="2">
                  <c:v>32</c:v>
                </c:pt>
                <c:pt idx="3">
                  <c:v>33.52</c:v>
                </c:pt>
                <c:pt idx="4">
                  <c:v>33.84</c:v>
                </c:pt>
                <c:pt idx="5">
                  <c:v>35.53</c:v>
                </c:pt>
                <c:pt idx="6">
                  <c:v>36.26</c:v>
                </c:pt>
                <c:pt idx="7">
                  <c:v>37.71</c:v>
                </c:pt>
                <c:pt idx="8">
                  <c:v>39.43</c:v>
                </c:pt>
                <c:pt idx="9">
                  <c:v>40.61</c:v>
                </c:pt>
                <c:pt idx="10">
                  <c:v>41.27</c:v>
                </c:pt>
                <c:pt idx="11">
                  <c:v>41.42</c:v>
                </c:pt>
                <c:pt idx="12">
                  <c:v>41.73</c:v>
                </c:pt>
                <c:pt idx="13">
                  <c:v>41.96</c:v>
                </c:pt>
                <c:pt idx="14">
                  <c:v>42.04</c:v>
                </c:pt>
                <c:pt idx="15">
                  <c:v>42.1</c:v>
                </c:pt>
                <c:pt idx="16">
                  <c:v>42.34</c:v>
                </c:pt>
                <c:pt idx="17">
                  <c:v>42.27</c:v>
                </c:pt>
                <c:pt idx="18">
                  <c:v>42.48</c:v>
                </c:pt>
                <c:pt idx="19">
                  <c:v>42.44</c:v>
                </c:pt>
                <c:pt idx="20">
                  <c:v>42.48</c:v>
                </c:pt>
                <c:pt idx="21">
                  <c:v>42.47</c:v>
                </c:pt>
                <c:pt idx="22">
                  <c:v>42.48</c:v>
                </c:pt>
                <c:pt idx="23">
                  <c:v>42.48</c:v>
                </c:pt>
                <c:pt idx="24">
                  <c:v>42.5</c:v>
                </c:pt>
                <c:pt idx="25">
                  <c:v>42.55</c:v>
                </c:pt>
                <c:pt idx="26">
                  <c:v>42.58</c:v>
                </c:pt>
                <c:pt idx="27">
                  <c:v>42.61</c:v>
                </c:pt>
                <c:pt idx="28">
                  <c:v>42.67</c:v>
                </c:pt>
                <c:pt idx="29">
                  <c:v>42.67</c:v>
                </c:pt>
                <c:pt idx="30">
                  <c:v>42.73</c:v>
                </c:pt>
                <c:pt idx="31">
                  <c:v>42.71</c:v>
                </c:pt>
                <c:pt idx="32">
                  <c:v>42.74</c:v>
                </c:pt>
                <c:pt idx="33">
                  <c:v>42.73</c:v>
                </c:pt>
                <c:pt idx="34">
                  <c:v>42.71</c:v>
                </c:pt>
                <c:pt idx="35">
                  <c:v>42.7</c:v>
                </c:pt>
                <c:pt idx="36">
                  <c:v>42.7</c:v>
                </c:pt>
                <c:pt idx="37">
                  <c:v>42.74</c:v>
                </c:pt>
                <c:pt idx="38">
                  <c:v>42.72</c:v>
                </c:pt>
                <c:pt idx="39">
                  <c:v>42.73</c:v>
                </c:pt>
                <c:pt idx="40">
                  <c:v>42.74</c:v>
                </c:pt>
                <c:pt idx="41">
                  <c:v>42.72</c:v>
                </c:pt>
                <c:pt idx="42">
                  <c:v>42.74</c:v>
                </c:pt>
                <c:pt idx="43">
                  <c:v>42.74</c:v>
                </c:pt>
                <c:pt idx="44">
                  <c:v>42.76</c:v>
                </c:pt>
                <c:pt idx="45">
                  <c:v>42.79</c:v>
                </c:pt>
                <c:pt idx="46">
                  <c:v>42.76</c:v>
                </c:pt>
                <c:pt idx="47">
                  <c:v>42.74</c:v>
                </c:pt>
                <c:pt idx="48">
                  <c:v>42.74</c:v>
                </c:pt>
                <c:pt idx="49">
                  <c:v>42.78</c:v>
                </c:pt>
                <c:pt idx="50">
                  <c:v>42.78</c:v>
                </c:pt>
              </c:numCache>
            </c:numRef>
          </c:val>
          <c:smooth val="0"/>
        </c:ser>
        <c:ser>
          <c:idx val="2"/>
          <c:order val="2"/>
          <c:tx>
            <c:strRef>
              <c:f>Sheet1!$D$1</c:f>
              <c:strCache>
                <c:ptCount val="1"/>
                <c:pt idx="0">
                  <c:v>Fed-GDBD (faithful)</c:v>
                </c:pt>
              </c:strCache>
            </c:strRef>
          </c:tx>
          <c:spPr>
            <a:solidFill>
              <a:srgbClr val="C0504D"/>
            </a:solidFill>
            <a:ln w="25400" cap="flat">
              <a:solidFill>
                <a:srgbClr val="C050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0504D"/>
              </a:solidFill>
              <a:ln w="9525" cap="flat">
                <a:solidFill>
                  <a:srgbClr val="C0504D"/>
                </a:solidFill>
                <a:prstDash val="solid"/>
                <a:round/>
              </a:ln>
              <a:effectLst/>
            </c:spPr>
          </c:marker>
          <c:cat>
            <c:multiLvlStrRef>
              <c:f>Sheet1!$A$2:$A$52</c:f>
              <c:multiLvlStrCache>
                <c:ptCount val="5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lvl>
              </c:multiLvlStrCache>
            </c:multiLvlStrRef>
          </c:cat>
          <c:val>
            <c:numRef>
              <c:f>Sheet1!$D$2:$D$52</c:f>
              <c:numCache>
                <c:formatCode>General</c:formatCode>
                <c:ptCount val="51"/>
                <c:pt idx="0">
                  <c:v>30.46</c:v>
                </c:pt>
                <c:pt idx="1">
                  <c:v>37.79</c:v>
                </c:pt>
                <c:pt idx="2">
                  <c:v>40.7</c:v>
                </c:pt>
                <c:pt idx="3">
                  <c:v>40.23</c:v>
                </c:pt>
                <c:pt idx="4">
                  <c:v>37.73</c:v>
                </c:pt>
                <c:pt idx="5">
                  <c:v>35.59</c:v>
                </c:pt>
                <c:pt idx="6">
                  <c:v>32.96</c:v>
                </c:pt>
                <c:pt idx="7">
                  <c:v>29.4</c:v>
                </c:pt>
                <c:pt idx="8">
                  <c:v>28.73</c:v>
                </c:pt>
                <c:pt idx="9">
                  <c:v>28.33</c:v>
                </c:pt>
                <c:pt idx="10">
                  <c:v>28</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numCache>
            </c:numRef>
          </c:val>
          <c:smooth val="0"/>
        </c:ser>
        <c:ser>
          <c:idx val="3"/>
          <c:order val="3"/>
          <c:tx>
            <c:strRef>
              <c:f>Sheet1!$E$1</c:f>
              <c:strCache>
                <c:ptCount val="1"/>
                <c:pt idx="0">
                  <c:v>FedGDBD-S (ours)</c:v>
                </c:pt>
              </c:strCache>
            </c:strRef>
          </c:tx>
          <c:spPr>
            <a:solidFill>
              <a:srgbClr val="1C7293"/>
            </a:solidFill>
            <a:ln w="25400" cap="flat">
              <a:solidFill>
                <a:srgbClr val="1C729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C7293"/>
              </a:solidFill>
              <a:ln w="9525" cap="flat">
                <a:solidFill>
                  <a:srgbClr val="1C7293"/>
                </a:solidFill>
                <a:prstDash val="solid"/>
                <a:round/>
              </a:ln>
              <a:effectLst/>
            </c:spPr>
          </c:marker>
          <c:cat>
            <c:multiLvlStrRef>
              <c:f>Sheet1!$A$2:$A$52</c:f>
              <c:multiLvlStrCache>
                <c:ptCount val="5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lvl>
              </c:multiLvlStrCache>
            </c:multiLvlStrRef>
          </c:cat>
          <c:val>
            <c:numRef>
              <c:f>Sheet1!$E$2:$E$52</c:f>
              <c:numCache>
                <c:formatCode>General</c:formatCode>
                <c:ptCount val="51"/>
                <c:pt idx="0">
                  <c:v>31.44</c:v>
                </c:pt>
                <c:pt idx="1">
                  <c:v>37.45</c:v>
                </c:pt>
                <c:pt idx="2">
                  <c:v>41.08</c:v>
                </c:pt>
                <c:pt idx="3">
                  <c:v>42.64</c:v>
                </c:pt>
                <c:pt idx="4">
                  <c:v>42.68</c:v>
                </c:pt>
                <c:pt idx="5">
                  <c:v>42.75</c:v>
                </c:pt>
                <c:pt idx="6">
                  <c:v>43.2</c:v>
                </c:pt>
                <c:pt idx="7">
                  <c:v>42.95</c:v>
                </c:pt>
                <c:pt idx="8">
                  <c:v>43.34</c:v>
                </c:pt>
                <c:pt idx="9">
                  <c:v>43.25</c:v>
                </c:pt>
                <c:pt idx="10">
                  <c:v>43.35</c:v>
                </c:pt>
                <c:pt idx="11">
                  <c:v>43.6</c:v>
                </c:pt>
                <c:pt idx="12">
                  <c:v>43.06</c:v>
                </c:pt>
                <c:pt idx="13">
                  <c:v>43.56</c:v>
                </c:pt>
                <c:pt idx="14">
                  <c:v>43.54</c:v>
                </c:pt>
                <c:pt idx="15">
                  <c:v>43.66</c:v>
                </c:pt>
                <c:pt idx="16">
                  <c:v>43.58</c:v>
                </c:pt>
                <c:pt idx="17">
                  <c:v>43.53</c:v>
                </c:pt>
                <c:pt idx="18">
                  <c:v>43.5</c:v>
                </c:pt>
                <c:pt idx="19">
                  <c:v>43.5</c:v>
                </c:pt>
                <c:pt idx="20">
                  <c:v>43.44</c:v>
                </c:pt>
                <c:pt idx="21">
                  <c:v>43.5</c:v>
                </c:pt>
                <c:pt idx="22">
                  <c:v>43.47</c:v>
                </c:pt>
                <c:pt idx="23">
                  <c:v>43.5</c:v>
                </c:pt>
                <c:pt idx="24">
                  <c:v>43.6</c:v>
                </c:pt>
                <c:pt idx="25">
                  <c:v>43.64</c:v>
                </c:pt>
                <c:pt idx="26">
                  <c:v>43.62</c:v>
                </c:pt>
                <c:pt idx="27">
                  <c:v>43.46</c:v>
                </c:pt>
                <c:pt idx="28">
                  <c:v>43.74</c:v>
                </c:pt>
                <c:pt idx="29">
                  <c:v>43.53</c:v>
                </c:pt>
                <c:pt idx="30">
                  <c:v>43.6</c:v>
                </c:pt>
                <c:pt idx="31">
                  <c:v>43.62</c:v>
                </c:pt>
                <c:pt idx="32">
                  <c:v>43.48</c:v>
                </c:pt>
                <c:pt idx="33">
                  <c:v>43.55</c:v>
                </c:pt>
                <c:pt idx="34">
                  <c:v>42.84</c:v>
                </c:pt>
                <c:pt idx="35">
                  <c:v>43.38</c:v>
                </c:pt>
                <c:pt idx="36">
                  <c:v>43.69</c:v>
                </c:pt>
                <c:pt idx="37">
                  <c:v>43.64</c:v>
                </c:pt>
                <c:pt idx="38">
                  <c:v>43.54</c:v>
                </c:pt>
                <c:pt idx="39">
                  <c:v>42.7</c:v>
                </c:pt>
                <c:pt idx="40">
                  <c:v>43.58</c:v>
                </c:pt>
                <c:pt idx="41">
                  <c:v>43.74</c:v>
                </c:pt>
                <c:pt idx="42">
                  <c:v>43.4</c:v>
                </c:pt>
                <c:pt idx="43">
                  <c:v>43.54</c:v>
                </c:pt>
                <c:pt idx="44">
                  <c:v>42.78</c:v>
                </c:pt>
                <c:pt idx="45">
                  <c:v>43.28</c:v>
                </c:pt>
                <c:pt idx="46">
                  <c:v>43.55</c:v>
                </c:pt>
                <c:pt idx="47">
                  <c:v>43.42</c:v>
                </c:pt>
                <c:pt idx="48">
                  <c:v>43.22</c:v>
                </c:pt>
                <c:pt idx="49">
                  <c:v>43.1</c:v>
                </c:pt>
                <c:pt idx="50">
                  <c:v>43.25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8"/>
                </a:solidFill>
                <a:latin typeface="+mn-lt"/>
              </a:defRPr>
            </a:pPr>
            <a:endParaRPr lang="en-US"/>
          </a:p>
        </c:txPr>
        <c:crossAx val="2094734552"/>
        <c:crosses val="autoZero"/>
        <c:auto val="1"/>
        <c:lblAlgn val="ctr"/>
        <c:noMultiLvlLbl val="1"/>
        <c:tickLblSkip val="10"/>
      </c:catAx>
      <c:valAx>
        <c:axId val="2094734552"/>
        <c:scaling>
          <c:orientation val="minMax"/>
          <c:max val="50"/>
          <c:min val="0"/>
        </c:scaling>
        <c:delete val="0"/>
        <c:axPos val="l"/>
        <c:majorGridlines>
          <c:spPr>
            <a:ln w="6350" cap="flat">
              <a:solidFill>
                <a:srgbClr val="D8DC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B6478"/>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E2A4A"/>
                </a:solidFill>
                <a:latin typeface="+mn-lt"/>
              </a:defRPr>
            </a:pPr>
            <a:r>
              <a:rPr sz="1050" b="0" i="0" u="none" strike="noStrike">
                <a:solidFill>
                  <a:srgbClr val="1E2A4A"/>
                </a:solidFill>
                <a:latin typeface="+mn-lt"/>
              </a:rPr>
              <a:t>CIFAR-100 accuracy (%) by client architecture</a:t>
            </a:r>
          </a:p>
        </c:rich>
      </c:tx>
      <c:layout/>
      <c:overlay val="0"/>
    </c:title>
    <c:autoTitleDeleted val="0"/>
    <c:plotArea>
      <c:layout/>
      <c:barChart>
        <c:barDir val="col"/>
        <c:grouping val="clustered"/>
        <c:varyColors val="0"/>
        <c:ser>
          <c:idx val="0"/>
          <c:order val="0"/>
          <c:tx>
            <c:strRef>
              <c:f>Sheet1!$B$1</c:f>
              <c:strCache>
                <c:ptCount val="1"/>
                <c:pt idx="0">
                  <c:v>Fed-GDBD faithful (round 10)</c:v>
                </c:pt>
              </c:strCache>
            </c:strRef>
          </c:tx>
          <c:spPr>
            <a:solidFill>
              <a:srgbClr val="C0504D"/>
            </a:solidFill>
            <a:effectLst/>
          </c:spPr>
          <c:invertIfNegative val="0"/>
          <c:dLbls>
            <c:numFmt formatCode="0.0" sourceLinked="0"/>
            <c:txPr>
              <a:bodyPr/>
              <a:lstStyle/>
              <a:p>
                <a:pPr>
                  <a:defRPr b="0" i="0" strike="noStrike" sz="900" u="none">
                    <a:solidFill>
                      <a:srgbClr val="5B6478"/>
                    </a:solidFill>
                    <a:latin typeface="+mn-lt"/>
                  </a:defRPr>
                </a:pPr>
              </a:p>
            </c:txPr>
            <c:showLegendKey val="0"/>
            <c:showVal val="1"/>
            <c:showCatName val="0"/>
            <c:showSerName val="0"/>
            <c:showPercent val="0"/>
            <c:showBubbleSize val="0"/>
            <c:showLeaderLines val="0"/>
          </c:dLbls>
          <c:cat>
            <c:multiLvlStrRef>
              <c:f>Sheet1!$A$2:$A$5</c:f>
              <c:multiLvlStrCache>
                <c:ptCount val="4"/>
                <c:lvl>
                  <c:pt idx="0">
                    <c:v>CNN</c:v>
                  </c:pt>
                  <c:pt idx="1">
                    <c:v>GoogLeNet</c:v>
                  </c:pt>
                  <c:pt idx="2">
                    <c:v>MobileNetV2</c:v>
                  </c:pt>
                  <c:pt idx="3">
                    <c:v>ResNet18</c:v>
                  </c:pt>
                </c:lvl>
              </c:multiLvlStrCache>
            </c:multiLvlStrRef>
          </c:cat>
          <c:val>
            <c:numRef>
              <c:f>Sheet1!$B$2:$B$5</c:f>
              <c:numCache>
                <c:formatCode>General</c:formatCode>
                <c:ptCount val="4"/>
                <c:pt idx="0">
                  <c:v>3.9</c:v>
                </c:pt>
                <c:pt idx="1">
                  <c:v>46.9</c:v>
                </c:pt>
                <c:pt idx="2">
                  <c:v>36.5</c:v>
                </c:pt>
                <c:pt idx="3">
                  <c:v>25.4</c:v>
                </c:pt>
              </c:numCache>
            </c:numRef>
          </c:val>
        </c:ser>
        <c:ser>
          <c:idx val="1"/>
          <c:order val="1"/>
          <c:tx>
            <c:strRef>
              <c:f>Sheet1!$C$1</c:f>
              <c:strCache>
                <c:ptCount val="1"/>
                <c:pt idx="0">
                  <c:v>FedGDBD-S (round 50)</c:v>
                </c:pt>
              </c:strCache>
            </c:strRef>
          </c:tx>
          <c:spPr>
            <a:solidFill>
              <a:srgbClr val="1C7293"/>
            </a:solidFill>
            <a:effectLst/>
          </c:spPr>
          <c:invertIfNegative val="0"/>
          <c:dLbls>
            <c:numFmt formatCode="0.0" sourceLinked="0"/>
            <c:txPr>
              <a:bodyPr/>
              <a:lstStyle/>
              <a:p>
                <a:pPr>
                  <a:defRPr b="0" i="0" strike="noStrike" sz="900" u="none">
                    <a:solidFill>
                      <a:srgbClr val="5B6478"/>
                    </a:solidFill>
                    <a:latin typeface="+mn-lt"/>
                  </a:defRPr>
                </a:pPr>
              </a:p>
            </c:txPr>
            <c:showLegendKey val="0"/>
            <c:showVal val="1"/>
            <c:showCatName val="0"/>
            <c:showSerName val="0"/>
            <c:showPercent val="0"/>
            <c:showBubbleSize val="0"/>
            <c:showLeaderLines val="0"/>
          </c:dLbls>
          <c:cat>
            <c:multiLvlStrRef>
              <c:f>Sheet1!$A$2:$A$5</c:f>
              <c:multiLvlStrCache>
                <c:ptCount val="4"/>
                <c:lvl>
                  <c:pt idx="0">
                    <c:v>CNN</c:v>
                  </c:pt>
                  <c:pt idx="1">
                    <c:v>GoogLeNet</c:v>
                  </c:pt>
                  <c:pt idx="2">
                    <c:v>MobileNetV2</c:v>
                  </c:pt>
                  <c:pt idx="3">
                    <c:v>ResNet18</c:v>
                  </c:pt>
                </c:lvl>
              </c:multiLvlStrCache>
            </c:multiLvlStrRef>
          </c:cat>
          <c:val>
            <c:numRef>
              <c:f>Sheet1!$C$2:$C$5</c:f>
              <c:numCache>
                <c:formatCode>General</c:formatCode>
                <c:ptCount val="4"/>
                <c:pt idx="0">
                  <c:v>45.6</c:v>
                </c:pt>
                <c:pt idx="1">
                  <c:v>47.3</c:v>
                </c:pt>
                <c:pt idx="2">
                  <c:v>38.9</c:v>
                </c:pt>
                <c:pt idx="3">
                  <c:v>41.1</c:v>
                </c:pt>
              </c:numCache>
            </c:numRef>
          </c:val>
        </c:ser>
        <c:dLbls>
          <c:numFmt formatCode="0.0" sourceLinked="0"/>
          <c:txPr>
            <a:bodyPr/>
            <a:lstStyle/>
            <a:p>
              <a:pPr>
                <a:defRPr b="0" i="0" strike="noStrike" sz="900" u="none">
                  <a:solidFill>
                    <a:srgbClr val="5B647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8"/>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8DC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B647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goal: we did not just read the paper, we re-implemented Fed-GDBD from scratch because the authors did not release code, and ran it against two baselines on two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HtFL has two problems at once. Data heterogeneity: with a Dirichlet split at beta 0.1, many clients see only a few classes. Model heterogeneity: each client runs one of four architectures, so parameters cannot be averaged. Fed-GDBD claims to handle both. We re-implemented it and compared against two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Public-data distillation needs a public dataset, so it is out of scope. Classifier sharing, like LG-FedAvg, forces one head onto different feature spaces. Prototype sharing, like FedProto, averages a single prototype per class. We picked one representative from each of the last two families as our baselines. Fed-GDBD sits between them: multiple prototypes train a global classifier, which is used as a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round. Steps 1, 2 and 5 run on every client, 3 and 4 on the server. Key point: the server never sees data or extractor weights, only prototype vectors, and what it sends back is a tiny linear classifier that acts as a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is the local objective: cross-entropy plus non-target-class distillation from the best previous version of the same client. B is the server objective: plain cross-entropy over the union of all prototypes. C is the collaborative objective: the local head is pulled towards g's softened predictions on the client's own features. We kept every hyperparameter at the paper's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on HtFLlib because its heterogeneous-model setup matches the paper exactly: same four models, same Dirichlet partitioning, same FedProto and LG-FedAvg implementations. That makes the baseline comparison fair. Fed-GDBD itself is about 300 lines we wrote: a client class and a server class. The server loop on the right is the whole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of code carry the method. The IKD loss is ordinary KL with the target-class column masked out. The update step is two lines: run g on the client's own features without gradient, then mix cross-entropy with the distillation term. Clustering is k-means++ seeding followed by vectorised Lloyd iterations, capped at 100 like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scope. We compare 3 of the 5 methods, 2 of the 4 datasets, one heterogeneity setting, the main variant only, 50 instead of 100 rounds and one run instead of three. Everything that defines the method, clients, models and hyperparameters, is identical to the paper. The reduction was forced by compute: about 1,500 GPU-hours for the full paper versus about 15 hours on two laptops.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table. Both baselines land within half a point of the paper, except FedProto on CIFAR-100, which we beat by four points. The faithful Fed-GDBD peaks early and then collapses, so its best number is 2 to 4 points below the paper. Our stabilised FedGDBD-S is the best method we ran on both datasets: plus 0.74 and plus 0.95 over LG-FedAvg, and 0.8 and 1.35 points below the paper's Fed-GDBD, with half the rounds and one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point at. First, the red line: the faithful Fed-GDBD is the best method for the first couple of rounds and then degrades steadily, which is why we stopped it. Second, the teal line: with our stabilisation it keeps the early lead and stays flat for all 50 rounds. Fed-GDBD converges much faster than the baselines, partly because it starts from five epochs of local pre-training.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novelty, and it came from the reproduction itself. Per-client logs showed the faithful method only fails on particular architectures: the CNN clients on CIFAR-100 and the ResNet18 clients on CIFAR-10. Our explanation: g is one linear layer for four different feature spaces, and the large distillation weight lets it override local learning. Two changes fix it: rescale g's logits to the student's scale, and let the distillation term train only the head. The chart shows the CNN clients going from 4 percent back to 46 percent. The adaptive v and alpha ideas from our proposal remain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we reproduced the setup and the baselines closely; implementing the paper's equations literally exposed an instability; our two-line stabilisation makes Fed-GDBD the best method in our runs; and the main limitation is one seed and fifty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rtlCol="0"/>
          <a:lstStyle>
            <a:lvl1pPr indent="0" marL="0">
              <a:buNone/>
              <a:defRPr lang="en-US" sz="900" b="1" spc="100" kern="0" dirty="0">
                <a:solidFill>
                  <a:schemeClr val="accent1"/>
                </a:solidFill>
              </a:defRPr>
            </a:lvl1pPr>
          </a:lstStyle>
          <a:p>
            <a:pPr indent="0" marL="0">
              <a:buNone/>
            </a:pPr>
            <a:endParaRPr lang="en-US" sz="900" dirty="0"/>
          </a:p>
        </p:txBody>
      </p:sp>
      <p:sp>
        <p:nvSpPr>
          <p:cNvPr id="3" name="Text 0"/>
          <p:cNvSpPr/>
          <p:nvPr>
            <p:ph idx="101" type="title" hasCustomPrompt="1"/>
          </p:nvPr>
        </p:nvSpPr>
        <p:spPr>
          <a:xfrm>
            <a:off x="457200" y="475488"/>
            <a:ext cx="8229600" cy="502920"/>
          </a:xfrm>
          <a:prstGeom prst="rect">
            <a:avLst/>
          </a:prstGeom>
          <a:noFill/>
          <a:ln/>
        </p:spPr>
        <p:txBody>
          <a:bodyPr wrap="square" rtlCol="0"/>
          <a:lstStyle>
            <a:lvl1pPr algn="l" indent="0" marL="0">
              <a:buNone/>
              <a:defRPr lang="en-US" sz="2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4" name="Text 0"/>
          <p:cNvSpPr/>
          <p:nvPr>
            <p:ph idx="102" type="body" hasCustomPrompt="1"/>
          </p:nvPr>
        </p:nvSpPr>
        <p:spPr>
          <a:xfrm>
            <a:off x="457200" y="4800600"/>
            <a:ext cx="5486400" cy="201168"/>
          </a:xfrm>
          <a:prstGeom prst="rect">
            <a:avLst/>
          </a:prstGeom>
          <a:noFill/>
          <a:ln/>
        </p:spPr>
        <p:txBody>
          <a:bodyPr wrap="square" rtlCol="0"/>
          <a:lstStyle>
            <a:lvl1pPr indent="0" marL="0">
              <a:buNone/>
              <a:defRPr lang="en-US" sz="800" dirty="0">
                <a:solidFill>
                  <a:schemeClr val="accent5"/>
                </a:solidFill>
              </a:defRPr>
            </a:lvl1pPr>
          </a:lstStyle>
          <a:p>
            <a:pPr indent="0" marL="0">
              <a:buNone/>
            </a:pPr>
            <a:endParaRPr lang="en-US" sz="80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046720" cy="228600"/>
          </a:xfrm>
          <a:prstGeom prst="rect">
            <a:avLst/>
          </a:prstGeom>
          <a:noFill/>
          <a:ln/>
        </p:spPr>
        <p:txBody>
          <a:bodyPr wrap="square" lIns="0" tIns="0" rIns="0" bIns="0" rtlCol="0" anchor="t"/>
          <a:lstStyle/>
          <a:p>
            <a:pPr indent="0" marL="0">
              <a:buNone/>
            </a:pPr>
            <a:r>
              <a:rPr lang="en-US" sz="900" b="1" spc="100" kern="0" dirty="0">
                <a:solidFill>
                  <a:schemeClr val="accent6"/>
                </a:solidFill>
              </a:rPr>
              <a:t>IT307 · MACHINE LEARNING  —  PROJECT PRESENTATION</a:t>
            </a:r>
            <a:endParaRPr lang="en-US" sz="900" dirty="0"/>
          </a:p>
        </p:txBody>
      </p:sp>
      <p:sp>
        <p:nvSpPr>
          <p:cNvPr id="3" name="Text 1"/>
          <p:cNvSpPr txBox="1"/>
          <p:nvPr/>
        </p:nvSpPr>
        <p:spPr>
          <a:xfrm>
            <a:off x="548640" y="822960"/>
            <a:ext cx="7863840" cy="118872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Reproducing Fed-GDBD: Global Decision Boundary Distillation for Heterogeneous Federated Learning</a:t>
            </a:r>
            <a:endParaRPr lang="en-US" sz="2600" dirty="0"/>
          </a:p>
        </p:txBody>
      </p:sp>
      <p:sp>
        <p:nvSpPr>
          <p:cNvPr id="4" name="Text 2"/>
          <p:cNvSpPr txBox="1"/>
          <p:nvPr/>
        </p:nvSpPr>
        <p:spPr>
          <a:xfrm>
            <a:off x="548640" y="2240280"/>
            <a:ext cx="7680960" cy="548640"/>
          </a:xfrm>
          <a:prstGeom prst="rect">
            <a:avLst/>
          </a:prstGeom>
          <a:noFill/>
          <a:ln/>
        </p:spPr>
        <p:txBody>
          <a:bodyPr wrap="square" lIns="0" tIns="0" rIns="0" bIns="0" rtlCol="0" anchor="t"/>
          <a:lstStyle/>
          <a:p>
            <a:pPr indent="0" marL="0">
              <a:buNone/>
            </a:pPr>
            <a:r>
              <a:rPr lang="en-US" sz="1300" i="1" dirty="0">
                <a:solidFill>
                  <a:schemeClr val="accent6"/>
                </a:solidFill>
              </a:rPr>
              <a:t>An independent re-implementation of Zhang et al. (JKSU-CIS, 2025), evaluated on CIFAR-10 and CIFAR-100 with 20 clients and four different model architectures</a:t>
            </a:r>
            <a:endParaRPr lang="en-US" sz="1300" dirty="0"/>
          </a:p>
        </p:txBody>
      </p:sp>
      <p:sp>
        <p:nvSpPr>
          <p:cNvPr id="5" name="Shape 3"/>
          <p:cNvSpPr/>
          <p:nvPr/>
        </p:nvSpPr>
        <p:spPr>
          <a:xfrm>
            <a:off x="548640" y="2971800"/>
            <a:ext cx="8046720" cy="1463040"/>
          </a:xfrm>
          <a:prstGeom prst="roundRect">
            <a:avLst>
              <a:gd name="adj" fmla="val 3750"/>
            </a:avLst>
          </a:prstGeom>
          <a:solidFill>
            <a:srgbClr val="2C3B63"/>
          </a:solidFill>
          <a:ln w="12700">
            <a:solidFill>
              <a:srgbClr val="2C3B63"/>
            </a:solidFill>
            <a:prstDash val="solid"/>
          </a:ln>
        </p:spPr>
      </p:sp>
      <p:sp>
        <p:nvSpPr>
          <p:cNvPr id="6" name="Text 4"/>
          <p:cNvSpPr txBox="1"/>
          <p:nvPr/>
        </p:nvSpPr>
        <p:spPr>
          <a:xfrm>
            <a:off x="777240" y="3154680"/>
            <a:ext cx="2468880" cy="274320"/>
          </a:xfrm>
          <a:prstGeom prst="rect">
            <a:avLst/>
          </a:prstGeom>
          <a:noFill/>
          <a:ln/>
        </p:spPr>
        <p:txBody>
          <a:bodyPr wrap="square" lIns="0" tIns="0" rIns="0" bIns="0" rtlCol="0" anchor="t"/>
          <a:lstStyle/>
          <a:p>
            <a:pPr indent="0" marL="0">
              <a:buNone/>
            </a:pPr>
            <a:r>
              <a:rPr lang="en-US" sz="1400" b="1" dirty="0">
                <a:solidFill>
                  <a:schemeClr val="bg1"/>
                </a:solidFill>
              </a:rPr>
              <a:t>D Maithreya</a:t>
            </a:r>
            <a:endParaRPr lang="en-US" sz="1400" dirty="0"/>
          </a:p>
        </p:txBody>
      </p:sp>
      <p:sp>
        <p:nvSpPr>
          <p:cNvPr id="7" name="Text 5"/>
          <p:cNvSpPr txBox="1"/>
          <p:nvPr/>
        </p:nvSpPr>
        <p:spPr>
          <a:xfrm>
            <a:off x="777240" y="3429000"/>
            <a:ext cx="2468880" cy="228600"/>
          </a:xfrm>
          <a:prstGeom prst="rect">
            <a:avLst/>
          </a:prstGeom>
          <a:noFill/>
          <a:ln/>
        </p:spPr>
        <p:txBody>
          <a:bodyPr wrap="square" lIns="0" tIns="0" rIns="0" bIns="0" rtlCol="0" anchor="t"/>
          <a:lstStyle/>
          <a:p>
            <a:pPr indent="0" marL="0">
              <a:buNone/>
            </a:pPr>
            <a:r>
              <a:rPr lang="en-US" sz="1100" dirty="0">
                <a:solidFill>
                  <a:schemeClr val="accent6"/>
                </a:solidFill>
              </a:rPr>
              <a:t>241AI013</a:t>
            </a:r>
            <a:endParaRPr lang="en-US" sz="1100" dirty="0"/>
          </a:p>
        </p:txBody>
      </p:sp>
      <p:sp>
        <p:nvSpPr>
          <p:cNvPr id="8" name="Text 6"/>
          <p:cNvSpPr txBox="1"/>
          <p:nvPr/>
        </p:nvSpPr>
        <p:spPr>
          <a:xfrm>
            <a:off x="3429000" y="3154680"/>
            <a:ext cx="2468880" cy="274320"/>
          </a:xfrm>
          <a:prstGeom prst="rect">
            <a:avLst/>
          </a:prstGeom>
          <a:noFill/>
          <a:ln/>
        </p:spPr>
        <p:txBody>
          <a:bodyPr wrap="square" lIns="0" tIns="0" rIns="0" bIns="0" rtlCol="0" anchor="t"/>
          <a:lstStyle/>
          <a:p>
            <a:pPr indent="0" marL="0">
              <a:buNone/>
            </a:pPr>
            <a:r>
              <a:rPr lang="en-US" sz="1400" b="1" dirty="0">
                <a:solidFill>
                  <a:schemeClr val="bg1"/>
                </a:solidFill>
              </a:rPr>
              <a:t>Maharshi Kundu</a:t>
            </a:r>
            <a:endParaRPr lang="en-US" sz="1400" dirty="0"/>
          </a:p>
        </p:txBody>
      </p:sp>
      <p:sp>
        <p:nvSpPr>
          <p:cNvPr id="9" name="Text 7"/>
          <p:cNvSpPr txBox="1"/>
          <p:nvPr/>
        </p:nvSpPr>
        <p:spPr>
          <a:xfrm>
            <a:off x="3429000" y="3429000"/>
            <a:ext cx="2468880" cy="228600"/>
          </a:xfrm>
          <a:prstGeom prst="rect">
            <a:avLst/>
          </a:prstGeom>
          <a:noFill/>
          <a:ln/>
        </p:spPr>
        <p:txBody>
          <a:bodyPr wrap="square" lIns="0" tIns="0" rIns="0" bIns="0" rtlCol="0" anchor="t"/>
          <a:lstStyle/>
          <a:p>
            <a:pPr indent="0" marL="0">
              <a:buNone/>
            </a:pPr>
            <a:r>
              <a:rPr lang="en-US" sz="1100" dirty="0">
                <a:solidFill>
                  <a:schemeClr val="accent6"/>
                </a:solidFill>
              </a:rPr>
              <a:t>241AI022</a:t>
            </a:r>
            <a:endParaRPr lang="en-US" sz="1100" dirty="0"/>
          </a:p>
        </p:txBody>
      </p:sp>
      <p:sp>
        <p:nvSpPr>
          <p:cNvPr id="10" name="Text 8"/>
          <p:cNvSpPr txBox="1"/>
          <p:nvPr/>
        </p:nvSpPr>
        <p:spPr>
          <a:xfrm>
            <a:off x="6080760" y="3154680"/>
            <a:ext cx="2468880" cy="274320"/>
          </a:xfrm>
          <a:prstGeom prst="rect">
            <a:avLst/>
          </a:prstGeom>
          <a:noFill/>
          <a:ln/>
        </p:spPr>
        <p:txBody>
          <a:bodyPr wrap="square" lIns="0" tIns="0" rIns="0" bIns="0" rtlCol="0" anchor="t"/>
          <a:lstStyle/>
          <a:p>
            <a:pPr indent="0" marL="0">
              <a:buNone/>
            </a:pPr>
            <a:r>
              <a:rPr lang="en-US" sz="1400" b="1" dirty="0">
                <a:solidFill>
                  <a:schemeClr val="bg1"/>
                </a:solidFill>
              </a:rPr>
              <a:t>Siddhanth R Naik</a:t>
            </a:r>
            <a:endParaRPr lang="en-US" sz="1400" dirty="0"/>
          </a:p>
        </p:txBody>
      </p:sp>
      <p:sp>
        <p:nvSpPr>
          <p:cNvPr id="11" name="Text 9"/>
          <p:cNvSpPr txBox="1"/>
          <p:nvPr/>
        </p:nvSpPr>
        <p:spPr>
          <a:xfrm>
            <a:off x="6080760" y="3429000"/>
            <a:ext cx="2468880" cy="228600"/>
          </a:xfrm>
          <a:prstGeom prst="rect">
            <a:avLst/>
          </a:prstGeom>
          <a:noFill/>
          <a:ln/>
        </p:spPr>
        <p:txBody>
          <a:bodyPr wrap="square" lIns="0" tIns="0" rIns="0" bIns="0" rtlCol="0" anchor="t"/>
          <a:lstStyle/>
          <a:p>
            <a:pPr indent="0" marL="0">
              <a:buNone/>
            </a:pPr>
            <a:r>
              <a:rPr lang="en-US" sz="1100" dirty="0">
                <a:solidFill>
                  <a:schemeClr val="accent6"/>
                </a:solidFill>
              </a:rPr>
              <a:t>241AI040</a:t>
            </a:r>
            <a:endParaRPr lang="en-US" sz="1100" dirty="0"/>
          </a:p>
        </p:txBody>
      </p:sp>
      <p:sp>
        <p:nvSpPr>
          <p:cNvPr id="12" name="Text 10"/>
          <p:cNvSpPr txBox="1"/>
          <p:nvPr/>
        </p:nvSpPr>
        <p:spPr>
          <a:xfrm>
            <a:off x="777240" y="3840480"/>
            <a:ext cx="7315200" cy="228600"/>
          </a:xfrm>
          <a:prstGeom prst="rect">
            <a:avLst/>
          </a:prstGeom>
          <a:noFill/>
          <a:ln/>
        </p:spPr>
        <p:txBody>
          <a:bodyPr wrap="square" lIns="0" tIns="0" rIns="0" bIns="0" rtlCol="0" anchor="t"/>
          <a:lstStyle/>
          <a:p>
            <a:pPr indent="0" marL="0">
              <a:buNone/>
            </a:pPr>
            <a:r>
              <a:rPr lang="en-US" sz="1100" dirty="0">
                <a:solidFill>
                  <a:schemeClr val="bg1"/>
                </a:solidFill>
              </a:rPr>
              <a:t>Instructor: Dr. Nagamma Patil</a:t>
            </a:r>
            <a:endParaRPr lang="en-US" sz="1100" dirty="0"/>
          </a:p>
        </p:txBody>
      </p:sp>
      <p:sp>
        <p:nvSpPr>
          <p:cNvPr id="13" name="Text 11"/>
          <p:cNvSpPr txBox="1"/>
          <p:nvPr/>
        </p:nvSpPr>
        <p:spPr>
          <a:xfrm>
            <a:off x="777240" y="4069080"/>
            <a:ext cx="7315200" cy="228600"/>
          </a:xfrm>
          <a:prstGeom prst="rect">
            <a:avLst/>
          </a:prstGeom>
          <a:noFill/>
          <a:ln/>
        </p:spPr>
        <p:txBody>
          <a:bodyPr wrap="square" lIns="0" tIns="0" rIns="0" bIns="0" rtlCol="0" anchor="t"/>
          <a:lstStyle/>
          <a:p>
            <a:pPr indent="0" marL="0">
              <a:buNone/>
            </a:pPr>
            <a:r>
              <a:rPr lang="en-US" sz="1100" dirty="0">
                <a:solidFill>
                  <a:schemeClr val="accent6"/>
                </a:solidFill>
              </a:rPr>
              <a:t>National Institute of Technology Karnataka, Surathkal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nchor="ctr"/>
          <a:lstStyle/>
          <a:p>
            <a:pPr indent="0" marL="0">
              <a:buNone/>
            </a:pPr>
            <a:r>
              <a:rPr lang="en-US" sz="900" b="1" spc="100" kern="0" dirty="0">
                <a:solidFill>
                  <a:schemeClr val="accent1"/>
                </a:solidFill>
              </a:rPr>
              <a:t>INTRODUCTION</a:t>
            </a:r>
            <a:endParaRPr lang="en-US" sz="9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What We Set Out to Do</a:t>
            </a:r>
            <a:endParaRPr lang="en-US" sz="2400" dirty="0"/>
          </a:p>
        </p:txBody>
      </p:sp>
      <p:sp>
        <p:nvSpPr>
          <p:cNvPr id="4" name="Text 0"/>
          <p:cNvSpPr/>
          <p:nvPr>
            <p:ph idx="102" type="body" hasCustomPrompt="1"/>
          </p:nvPr>
        </p:nvSpPr>
        <p:spPr>
          <a:xfrm>
            <a:off x="457200" y="4800600"/>
            <a:ext cx="5486400" cy="201168"/>
          </a:xfrm>
          <a:prstGeom prst="rect">
            <a:avLst/>
          </a:prstGeom>
          <a:noFill/>
          <a:ln/>
        </p:spPr>
        <p:txBody>
          <a:bodyPr wrap="square" lIns="0" tIns="0" rIns="0" bIns="0" rtlCol="0" anchor="ctr"/>
          <a:lstStyle/>
          <a:p>
            <a:pPr indent="0" marL="0">
              <a:buNone/>
            </a:pPr>
            <a:r>
              <a:rPr lang="en-US" sz="800" dirty="0">
                <a:solidFill>
                  <a:schemeClr val="accent5"/>
                </a:solidFill>
              </a:rPr>
              <a:t>INTRODUCTION</a:t>
            </a:r>
            <a:endParaRPr lang="en-US" sz="800" dirty="0"/>
          </a:p>
        </p:txBody>
      </p:sp>
      <p:sp>
        <p:nvSpPr>
          <p:cNvPr id="5" name="Text 3"/>
          <p:cNvSpPr txBox="1"/>
          <p:nvPr/>
        </p:nvSpPr>
        <p:spPr>
          <a:xfrm>
            <a:off x="457200" y="1234440"/>
            <a:ext cx="4206240" cy="2743200"/>
          </a:xfrm>
          <a:prstGeom prst="rect">
            <a:avLst/>
          </a:prstGeom>
          <a:noFill/>
          <a:ln/>
        </p:spPr>
        <p:txBody>
          <a:bodyPr wrap="square" lIns="0" tIns="0" rIns="0" bIns="0" rtlCol="0" anchor="t"/>
          <a:lstStyle/>
          <a:p>
            <a:pPr indent="0" marL="0">
              <a:buNone/>
            </a:pPr>
            <a:r>
              <a:rPr lang="en-US" sz="1300" b="1" dirty="0">
                <a:solidFill>
                  <a:schemeClr val="tx2"/>
                </a:solidFill>
              </a:rPr>
              <a:t>Heterogeneous federated learning (HtFL). </a:t>
            </a:r>
            <a:pPr indent="0" marL="0">
              <a:buNone/>
            </a:pPr>
            <a:r>
              <a:rPr lang="en-US" sz="1300" dirty="0">
                <a:solidFill>
                  <a:schemeClr val="tx1"/>
                </a:solidFill>
              </a:rPr>
              <a:t>Clients train together without sharing raw data, while holding non-IID data and running different model architectures, so FedAvg-style weight averaging is impossible.</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2"/>
                </a:solidFill>
              </a:rPr>
              <a:t>The paper. </a:t>
            </a:r>
            <a:pPr indent="0" marL="0">
              <a:buNone/>
            </a:pPr>
            <a:r>
              <a:rPr lang="en-US" sz="1300" dirty="0">
                <a:solidFill>
                  <a:schemeClr val="tx1"/>
                </a:solidFill>
              </a:rPr>
              <a:t>Fed-GDBD (Zhang et al., 2025) shares clustered class prototypes and distils a server-trained global decision boundary back into every client.</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2"/>
                </a:solidFill>
              </a:rPr>
              <a:t>Our goal. </a:t>
            </a:r>
            <a:pPr indent="0" marL="0">
              <a:buNone/>
            </a:pPr>
            <a:r>
              <a:rPr lang="en-US" sz="1300" dirty="0">
                <a:solidFill>
                  <a:schemeClr val="tx1"/>
                </a:solidFill>
              </a:rPr>
              <a:t>Re-implement Fed-GDBD (no official code exists) and test its headline claim: that it beats prototype-sharing and classifier-sharing baselines under strong label skew.</a:t>
            </a:r>
            <a:endParaRPr lang="en-US" sz="1300" dirty="0"/>
          </a:p>
        </p:txBody>
      </p:sp>
      <p:sp>
        <p:nvSpPr>
          <p:cNvPr id="6" name="Shape 4"/>
          <p:cNvSpPr/>
          <p:nvPr/>
        </p:nvSpPr>
        <p:spPr>
          <a:xfrm>
            <a:off x="5029200" y="1234440"/>
            <a:ext cx="1737360" cy="1234440"/>
          </a:xfrm>
          <a:prstGeom prst="roundRect">
            <a:avLst>
              <a:gd name="adj" fmla="val 4444"/>
            </a:avLst>
          </a:prstGeom>
          <a:solidFill>
            <a:schemeClr val="bg2"/>
          </a:solidFill>
          <a:ln w="9525">
            <a:solidFill>
              <a:schemeClr val="accent4"/>
            </a:solidFill>
            <a:prstDash val="solid"/>
          </a:ln>
        </p:spPr>
      </p:sp>
      <p:sp>
        <p:nvSpPr>
          <p:cNvPr id="7" name="Text 5"/>
          <p:cNvSpPr txBox="1"/>
          <p:nvPr/>
        </p:nvSpPr>
        <p:spPr>
          <a:xfrm>
            <a:off x="5166360" y="1344168"/>
            <a:ext cx="146304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20</a:t>
            </a:r>
            <a:endParaRPr lang="en-US" sz="3200" dirty="0"/>
          </a:p>
        </p:txBody>
      </p:sp>
      <p:sp>
        <p:nvSpPr>
          <p:cNvPr id="8" name="Text 6"/>
          <p:cNvSpPr txBox="1"/>
          <p:nvPr/>
        </p:nvSpPr>
        <p:spPr>
          <a:xfrm>
            <a:off x="5166360" y="1892808"/>
            <a:ext cx="1508760" cy="502920"/>
          </a:xfrm>
          <a:prstGeom prst="rect">
            <a:avLst/>
          </a:prstGeom>
          <a:noFill/>
          <a:ln/>
        </p:spPr>
        <p:txBody>
          <a:bodyPr wrap="square" lIns="0" tIns="0" rIns="0" bIns="0" rtlCol="0" anchor="t"/>
          <a:lstStyle/>
          <a:p>
            <a:pPr indent="0" marL="0">
              <a:buNone/>
            </a:pPr>
            <a:r>
              <a:rPr lang="en-US" sz="1000" dirty="0">
                <a:solidFill>
                  <a:schemeClr val="accent2"/>
                </a:solidFill>
              </a:rPr>
              <a:t>clients, all participating each round</a:t>
            </a:r>
            <a:endParaRPr lang="en-US" sz="1000" dirty="0"/>
          </a:p>
        </p:txBody>
      </p:sp>
      <p:sp>
        <p:nvSpPr>
          <p:cNvPr id="9" name="Shape 7"/>
          <p:cNvSpPr/>
          <p:nvPr/>
        </p:nvSpPr>
        <p:spPr>
          <a:xfrm>
            <a:off x="6903720" y="1234440"/>
            <a:ext cx="1737360" cy="1234440"/>
          </a:xfrm>
          <a:prstGeom prst="roundRect">
            <a:avLst>
              <a:gd name="adj" fmla="val 4444"/>
            </a:avLst>
          </a:prstGeom>
          <a:solidFill>
            <a:schemeClr val="bg2"/>
          </a:solidFill>
          <a:ln w="9525">
            <a:solidFill>
              <a:schemeClr val="accent4"/>
            </a:solidFill>
            <a:prstDash val="solid"/>
          </a:ln>
        </p:spPr>
      </p:sp>
      <p:sp>
        <p:nvSpPr>
          <p:cNvPr id="10" name="Text 8"/>
          <p:cNvSpPr txBox="1"/>
          <p:nvPr/>
        </p:nvSpPr>
        <p:spPr>
          <a:xfrm>
            <a:off x="7040880" y="1344168"/>
            <a:ext cx="146304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11" name="Text 9"/>
          <p:cNvSpPr txBox="1"/>
          <p:nvPr/>
        </p:nvSpPr>
        <p:spPr>
          <a:xfrm>
            <a:off x="7040880" y="1892808"/>
            <a:ext cx="1508760" cy="502920"/>
          </a:xfrm>
          <a:prstGeom prst="rect">
            <a:avLst/>
          </a:prstGeom>
          <a:noFill/>
          <a:ln/>
        </p:spPr>
        <p:txBody>
          <a:bodyPr wrap="square" lIns="0" tIns="0" rIns="0" bIns="0" rtlCol="0" anchor="t"/>
          <a:lstStyle/>
          <a:p>
            <a:pPr indent="0" marL="0">
              <a:buNone/>
            </a:pPr>
            <a:r>
              <a:rPr lang="en-US" sz="1000" dirty="0">
                <a:solidFill>
                  <a:schemeClr val="accent2"/>
                </a:solidFill>
              </a:rPr>
              <a:t>architectures: CNN, GoogLeNet, MobileNetV2, ResNet18</a:t>
            </a:r>
            <a:endParaRPr lang="en-US" sz="1000" dirty="0"/>
          </a:p>
        </p:txBody>
      </p:sp>
      <p:sp>
        <p:nvSpPr>
          <p:cNvPr id="12" name="Shape 10"/>
          <p:cNvSpPr/>
          <p:nvPr/>
        </p:nvSpPr>
        <p:spPr>
          <a:xfrm>
            <a:off x="5029200" y="2606040"/>
            <a:ext cx="1737360" cy="1234440"/>
          </a:xfrm>
          <a:prstGeom prst="roundRect">
            <a:avLst>
              <a:gd name="adj" fmla="val 4444"/>
            </a:avLst>
          </a:prstGeom>
          <a:solidFill>
            <a:schemeClr val="bg2"/>
          </a:solidFill>
          <a:ln w="9525">
            <a:solidFill>
              <a:schemeClr val="accent4"/>
            </a:solidFill>
            <a:prstDash val="solid"/>
          </a:ln>
        </p:spPr>
      </p:sp>
      <p:sp>
        <p:nvSpPr>
          <p:cNvPr id="13" name="Text 11"/>
          <p:cNvSpPr txBox="1"/>
          <p:nvPr/>
        </p:nvSpPr>
        <p:spPr>
          <a:xfrm>
            <a:off x="5166360" y="2715768"/>
            <a:ext cx="146304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14" name="Text 12"/>
          <p:cNvSpPr txBox="1"/>
          <p:nvPr/>
        </p:nvSpPr>
        <p:spPr>
          <a:xfrm>
            <a:off x="5166360" y="3264408"/>
            <a:ext cx="1508760" cy="502920"/>
          </a:xfrm>
          <a:prstGeom prst="rect">
            <a:avLst/>
          </a:prstGeom>
          <a:noFill/>
          <a:ln/>
        </p:spPr>
        <p:txBody>
          <a:bodyPr wrap="square" lIns="0" tIns="0" rIns="0" bIns="0" rtlCol="0" anchor="t"/>
          <a:lstStyle/>
          <a:p>
            <a:pPr indent="0" marL="0">
              <a:buNone/>
            </a:pPr>
            <a:r>
              <a:rPr lang="en-US" sz="1000" dirty="0">
                <a:solidFill>
                  <a:schemeClr val="accent2"/>
                </a:solidFill>
              </a:rPr>
              <a:t>datasets: CIFAR-10 and CIFAR-100</a:t>
            </a:r>
            <a:endParaRPr lang="en-US" sz="1000" dirty="0"/>
          </a:p>
        </p:txBody>
      </p:sp>
      <p:sp>
        <p:nvSpPr>
          <p:cNvPr id="15" name="Shape 13"/>
          <p:cNvSpPr/>
          <p:nvPr/>
        </p:nvSpPr>
        <p:spPr>
          <a:xfrm>
            <a:off x="6903720" y="2606040"/>
            <a:ext cx="1737360" cy="1234440"/>
          </a:xfrm>
          <a:prstGeom prst="roundRect">
            <a:avLst>
              <a:gd name="adj" fmla="val 4444"/>
            </a:avLst>
          </a:prstGeom>
          <a:solidFill>
            <a:schemeClr val="bg2"/>
          </a:solidFill>
          <a:ln w="9525">
            <a:solidFill>
              <a:schemeClr val="accent4"/>
            </a:solidFill>
            <a:prstDash val="solid"/>
          </a:ln>
        </p:spPr>
      </p:sp>
      <p:sp>
        <p:nvSpPr>
          <p:cNvPr id="16" name="Text 14"/>
          <p:cNvSpPr txBox="1"/>
          <p:nvPr/>
        </p:nvSpPr>
        <p:spPr>
          <a:xfrm>
            <a:off x="7040880" y="2715768"/>
            <a:ext cx="146304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3+1</a:t>
            </a:r>
            <a:endParaRPr lang="en-US" sz="3200" dirty="0"/>
          </a:p>
        </p:txBody>
      </p:sp>
      <p:sp>
        <p:nvSpPr>
          <p:cNvPr id="17" name="Text 15"/>
          <p:cNvSpPr txBox="1"/>
          <p:nvPr/>
        </p:nvSpPr>
        <p:spPr>
          <a:xfrm>
            <a:off x="7040880" y="3264408"/>
            <a:ext cx="1508760" cy="502920"/>
          </a:xfrm>
          <a:prstGeom prst="rect">
            <a:avLst/>
          </a:prstGeom>
          <a:noFill/>
          <a:ln/>
        </p:spPr>
        <p:txBody>
          <a:bodyPr wrap="square" lIns="0" tIns="0" rIns="0" bIns="0" rtlCol="0" anchor="t"/>
          <a:lstStyle/>
          <a:p>
            <a:pPr indent="0" marL="0">
              <a:buNone/>
            </a:pPr>
            <a:r>
              <a:rPr lang="en-US" sz="1000" dirty="0">
                <a:solidFill>
                  <a:schemeClr val="accent2"/>
                </a:solidFill>
              </a:rPr>
              <a:t>methods: Fed-GDBD, FedProto, LG-FedAvg + our FedGDBD-S</a:t>
            </a:r>
            <a:endParaRPr lang="en-US" sz="1000" dirty="0"/>
          </a:p>
        </p:txBody>
      </p:sp>
      <p:sp>
        <p:nvSpPr>
          <p:cNvPr id="18" name="Shape 16"/>
          <p:cNvSpPr/>
          <p:nvPr/>
        </p:nvSpPr>
        <p:spPr>
          <a:xfrm>
            <a:off x="457200" y="4069080"/>
            <a:ext cx="4206240" cy="548640"/>
          </a:xfrm>
          <a:prstGeom prst="roundRect">
            <a:avLst>
              <a:gd name="adj" fmla="val 10000"/>
            </a:avLst>
          </a:prstGeom>
          <a:solidFill>
            <a:schemeClr val="accent3"/>
          </a:solidFill>
          <a:ln w="9525">
            <a:solidFill>
              <a:schemeClr val="accent3"/>
            </a:solidFill>
            <a:prstDash val="solid"/>
          </a:ln>
        </p:spPr>
      </p:sp>
      <p:sp>
        <p:nvSpPr>
          <p:cNvPr id="19" name="Text 17"/>
          <p:cNvSpPr txBox="1"/>
          <p:nvPr/>
        </p:nvSpPr>
        <p:spPr>
          <a:xfrm>
            <a:off x="594360" y="4069080"/>
            <a:ext cx="3931920" cy="548640"/>
          </a:xfrm>
          <a:prstGeom prst="rect">
            <a:avLst/>
          </a:prstGeom>
          <a:noFill/>
          <a:ln/>
        </p:spPr>
        <p:txBody>
          <a:bodyPr wrap="square" lIns="0" tIns="0" rIns="0" bIns="0" rtlCol="0" anchor="ctr"/>
          <a:lstStyle/>
          <a:p>
            <a:pPr indent="0" marL="0">
              <a:buNone/>
            </a:pPr>
            <a:r>
              <a:rPr lang="en-US" sz="1100" b="1" dirty="0">
                <a:solidFill>
                  <a:schemeClr val="tx2"/>
                </a:solidFill>
              </a:rPr>
              <a:t>Two challenges at once: </a:t>
            </a:r>
            <a:pPr indent="0" marL="0">
              <a:buNone/>
            </a:pPr>
            <a:r>
              <a:rPr lang="en-US" sz="1100" dirty="0">
                <a:solidFill>
                  <a:schemeClr val="tx1"/>
                </a:solidFill>
              </a:rPr>
              <a:t>label skew Dir(β = 0.1) and model heterogeneity</a:t>
            </a:r>
            <a:endParaRPr lang="en-US" sz="110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nchor="ctr"/>
          <a:lstStyle/>
          <a:p>
            <a:pPr indent="0" marL="0">
              <a:buNone/>
            </a:pPr>
            <a:r>
              <a:rPr lang="en-US" sz="900" b="1" spc="100" kern="0" dirty="0">
                <a:solidFill>
                  <a:schemeClr val="accent1"/>
                </a:solidFill>
              </a:rPr>
              <a:t>LITERATURE SURVEY</a:t>
            </a:r>
            <a:endParaRPr lang="en-US" sz="9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Where Fed-GDBD Fits in HtFL Research</a:t>
            </a:r>
            <a:endParaRPr lang="en-US" sz="2400" dirty="0"/>
          </a:p>
        </p:txBody>
      </p:sp>
      <p:sp>
        <p:nvSpPr>
          <p:cNvPr id="4" name="Text 0"/>
          <p:cNvSpPr/>
          <p:nvPr>
            <p:ph idx="102" type="body" hasCustomPrompt="1"/>
          </p:nvPr>
        </p:nvSpPr>
        <p:spPr>
          <a:xfrm>
            <a:off x="457200" y="4800600"/>
            <a:ext cx="5486400" cy="201168"/>
          </a:xfrm>
          <a:prstGeom prst="rect">
            <a:avLst/>
          </a:prstGeom>
          <a:noFill/>
          <a:ln/>
        </p:spPr>
        <p:txBody>
          <a:bodyPr wrap="square" lIns="0" tIns="0" rIns="0" bIns="0" rtlCol="0" anchor="ctr"/>
          <a:lstStyle/>
          <a:p>
            <a:pPr indent="0" marL="0">
              <a:buNone/>
            </a:pPr>
            <a:r>
              <a:rPr lang="en-US" sz="800" dirty="0">
                <a:solidFill>
                  <a:schemeClr val="accent5"/>
                </a:solidFill>
              </a:rPr>
              <a:t>LITERATURE SURVEY</a:t>
            </a:r>
            <a:endParaRPr lang="en-US" sz="800" dirty="0"/>
          </a:p>
        </p:txBody>
      </p:sp>
      <p:sp>
        <p:nvSpPr>
          <p:cNvPr id="5" name="Shape 3"/>
          <p:cNvSpPr/>
          <p:nvPr/>
        </p:nvSpPr>
        <p:spPr>
          <a:xfrm>
            <a:off x="457200" y="1188720"/>
            <a:ext cx="2606040" cy="2331720"/>
          </a:xfrm>
          <a:prstGeom prst="roundRect">
            <a:avLst>
              <a:gd name="adj" fmla="val 2353"/>
            </a:avLst>
          </a:prstGeom>
          <a:solidFill>
            <a:schemeClr val="bg2"/>
          </a:solidFill>
          <a:ln w="9525">
            <a:solidFill>
              <a:schemeClr val="accent4"/>
            </a:solidFill>
            <a:prstDash val="solid"/>
          </a:ln>
        </p:spPr>
      </p:sp>
      <p:sp>
        <p:nvSpPr>
          <p:cNvPr id="6" name="Text 4"/>
          <p:cNvSpPr txBox="1"/>
          <p:nvPr/>
        </p:nvSpPr>
        <p:spPr>
          <a:xfrm>
            <a:off x="621792" y="1325880"/>
            <a:ext cx="2286000" cy="274320"/>
          </a:xfrm>
          <a:prstGeom prst="rect">
            <a:avLst/>
          </a:prstGeom>
          <a:noFill/>
          <a:ln/>
        </p:spPr>
        <p:txBody>
          <a:bodyPr wrap="square" lIns="0" tIns="0" rIns="0" bIns="0" rtlCol="0" anchor="t"/>
          <a:lstStyle/>
          <a:p>
            <a:pPr indent="0" marL="0">
              <a:buNone/>
            </a:pPr>
            <a:r>
              <a:rPr lang="en-US" sz="1300" b="1" dirty="0">
                <a:solidFill>
                  <a:schemeClr val="tx2"/>
                </a:solidFill>
              </a:rPr>
              <a:t>Public-data distillation</a:t>
            </a:r>
            <a:endParaRPr lang="en-US" sz="1300" dirty="0"/>
          </a:p>
        </p:txBody>
      </p:sp>
      <p:sp>
        <p:nvSpPr>
          <p:cNvPr id="7" name="Text 5"/>
          <p:cNvSpPr txBox="1"/>
          <p:nvPr/>
        </p:nvSpPr>
        <p:spPr>
          <a:xfrm>
            <a:off x="621792" y="1600200"/>
            <a:ext cx="2286000" cy="228600"/>
          </a:xfrm>
          <a:prstGeom prst="rect">
            <a:avLst/>
          </a:prstGeom>
          <a:noFill/>
          <a:ln/>
        </p:spPr>
        <p:txBody>
          <a:bodyPr wrap="square" lIns="0" tIns="0" rIns="0" bIns="0" rtlCol="0" anchor="t"/>
          <a:lstStyle/>
          <a:p>
            <a:pPr indent="0" marL="0">
              <a:buNone/>
            </a:pPr>
            <a:r>
              <a:rPr lang="en-US" sz="1000" b="1" dirty="0">
                <a:solidFill>
                  <a:schemeClr val="accent1"/>
                </a:solidFill>
              </a:rPr>
              <a:t>FedMD · FedDF · KT-pFL</a:t>
            </a:r>
            <a:endParaRPr lang="en-US" sz="1000" dirty="0"/>
          </a:p>
        </p:txBody>
      </p:sp>
      <p:sp>
        <p:nvSpPr>
          <p:cNvPr id="8" name="Text 6"/>
          <p:cNvSpPr txBox="1"/>
          <p:nvPr/>
        </p:nvSpPr>
        <p:spPr>
          <a:xfrm>
            <a:off x="621792" y="1901952"/>
            <a:ext cx="2286000" cy="1143000"/>
          </a:xfrm>
          <a:prstGeom prst="rect">
            <a:avLst/>
          </a:prstGeom>
          <a:noFill/>
          <a:ln/>
        </p:spPr>
        <p:txBody>
          <a:bodyPr wrap="square" lIns="0" tIns="0" rIns="0" bIns="0" rtlCol="0" anchor="t"/>
          <a:lstStyle/>
          <a:p>
            <a:pPr indent="0" marL="0">
              <a:buNone/>
            </a:pPr>
            <a:r>
              <a:rPr lang="en-US" sz="1100" dirty="0">
                <a:solidFill>
                  <a:schemeClr val="accent2"/>
                </a:solidFill>
              </a:rPr>
              <a:t>Clients exchange logits on a shared public dataset. Quality depends on how relevant that public data is, and one may not exist.</a:t>
            </a:r>
            <a:endParaRPr lang="en-US" sz="1100" dirty="0"/>
          </a:p>
        </p:txBody>
      </p:sp>
      <p:sp>
        <p:nvSpPr>
          <p:cNvPr id="9" name="Shape 7"/>
          <p:cNvSpPr/>
          <p:nvPr/>
        </p:nvSpPr>
        <p:spPr>
          <a:xfrm>
            <a:off x="621792" y="3090672"/>
            <a:ext cx="2286000" cy="292608"/>
          </a:xfrm>
          <a:prstGeom prst="roundRect">
            <a:avLst>
              <a:gd name="adj" fmla="val 15625"/>
            </a:avLst>
          </a:prstGeom>
          <a:solidFill>
            <a:schemeClr val="bg1"/>
          </a:solidFill>
          <a:ln w="12700">
            <a:solidFill>
              <a:schemeClr val="accent4"/>
            </a:solidFill>
            <a:prstDash val="solid"/>
          </a:ln>
        </p:spPr>
      </p:sp>
      <p:sp>
        <p:nvSpPr>
          <p:cNvPr id="10" name="Text 8"/>
          <p:cNvSpPr txBox="1"/>
          <p:nvPr/>
        </p:nvSpPr>
        <p:spPr>
          <a:xfrm>
            <a:off x="621792" y="3090672"/>
            <a:ext cx="2286000" cy="292608"/>
          </a:xfrm>
          <a:prstGeom prst="rect">
            <a:avLst/>
          </a:prstGeom>
          <a:noFill/>
          <a:ln/>
        </p:spPr>
        <p:txBody>
          <a:bodyPr wrap="square" lIns="0" tIns="0" rIns="0" bIns="0" rtlCol="0" anchor="ctr"/>
          <a:lstStyle/>
          <a:p>
            <a:pPr algn="ctr" indent="0" marL="0">
              <a:buNone/>
            </a:pPr>
            <a:r>
              <a:rPr lang="en-US" sz="1000" b="1" dirty="0">
                <a:solidFill>
                  <a:schemeClr val="accent2"/>
                </a:solidFill>
              </a:rPr>
              <a:t>Not compared (needs public data)</a:t>
            </a:r>
            <a:endParaRPr lang="en-US" sz="1000" dirty="0"/>
          </a:p>
        </p:txBody>
      </p:sp>
      <p:sp>
        <p:nvSpPr>
          <p:cNvPr id="11" name="Shape 9"/>
          <p:cNvSpPr/>
          <p:nvPr/>
        </p:nvSpPr>
        <p:spPr>
          <a:xfrm>
            <a:off x="3246120" y="1188720"/>
            <a:ext cx="2606040" cy="2331720"/>
          </a:xfrm>
          <a:prstGeom prst="roundRect">
            <a:avLst>
              <a:gd name="adj" fmla="val 2353"/>
            </a:avLst>
          </a:prstGeom>
          <a:solidFill>
            <a:schemeClr val="bg2"/>
          </a:solidFill>
          <a:ln w="9525">
            <a:solidFill>
              <a:schemeClr val="accent4"/>
            </a:solidFill>
            <a:prstDash val="solid"/>
          </a:ln>
        </p:spPr>
      </p:sp>
      <p:sp>
        <p:nvSpPr>
          <p:cNvPr id="12" name="Text 10"/>
          <p:cNvSpPr txBox="1"/>
          <p:nvPr/>
        </p:nvSpPr>
        <p:spPr>
          <a:xfrm>
            <a:off x="3410712" y="1325880"/>
            <a:ext cx="2286000" cy="274320"/>
          </a:xfrm>
          <a:prstGeom prst="rect">
            <a:avLst/>
          </a:prstGeom>
          <a:noFill/>
          <a:ln/>
        </p:spPr>
        <p:txBody>
          <a:bodyPr wrap="square" lIns="0" tIns="0" rIns="0" bIns="0" rtlCol="0" anchor="t"/>
          <a:lstStyle/>
          <a:p>
            <a:pPr indent="0" marL="0">
              <a:buNone/>
            </a:pPr>
            <a:r>
              <a:rPr lang="en-US" sz="1300" b="1" dirty="0">
                <a:solidFill>
                  <a:schemeClr val="tx2"/>
                </a:solidFill>
              </a:rPr>
              <a:t>Global classifier sharing</a:t>
            </a:r>
            <a:endParaRPr lang="en-US" sz="1300" dirty="0"/>
          </a:p>
        </p:txBody>
      </p:sp>
      <p:sp>
        <p:nvSpPr>
          <p:cNvPr id="13" name="Text 11"/>
          <p:cNvSpPr txBox="1"/>
          <p:nvPr/>
        </p:nvSpPr>
        <p:spPr>
          <a:xfrm>
            <a:off x="3410712" y="1600200"/>
            <a:ext cx="2286000" cy="228600"/>
          </a:xfrm>
          <a:prstGeom prst="rect">
            <a:avLst/>
          </a:prstGeom>
          <a:noFill/>
          <a:ln/>
        </p:spPr>
        <p:txBody>
          <a:bodyPr wrap="square" lIns="0" tIns="0" rIns="0" bIns="0" rtlCol="0" anchor="t"/>
          <a:lstStyle/>
          <a:p>
            <a:pPr indent="0" marL="0">
              <a:buNone/>
            </a:pPr>
            <a:r>
              <a:rPr lang="en-US" sz="1000" b="1" dirty="0">
                <a:solidFill>
                  <a:schemeClr val="accent1"/>
                </a:solidFill>
              </a:rPr>
              <a:t>LG-FedAvg (2020) · FedGH (2023)</a:t>
            </a:r>
            <a:endParaRPr lang="en-US" sz="1000" dirty="0"/>
          </a:p>
        </p:txBody>
      </p:sp>
      <p:sp>
        <p:nvSpPr>
          <p:cNvPr id="14" name="Text 12"/>
          <p:cNvSpPr txBox="1"/>
          <p:nvPr/>
        </p:nvSpPr>
        <p:spPr>
          <a:xfrm>
            <a:off x="3410712" y="1901952"/>
            <a:ext cx="2286000" cy="1143000"/>
          </a:xfrm>
          <a:prstGeom prst="rect">
            <a:avLst/>
          </a:prstGeom>
          <a:noFill/>
          <a:ln/>
        </p:spPr>
        <p:txBody>
          <a:bodyPr wrap="square" lIns="0" tIns="0" rIns="0" bIns="0" rtlCol="0" anchor="t"/>
          <a:lstStyle/>
          <a:p>
            <a:pPr indent="0" marL="0">
              <a:buNone/>
            </a:pPr>
            <a:r>
              <a:rPr lang="en-US" sz="1100" dirty="0">
                <a:solidFill>
                  <a:schemeClr val="accent2"/>
                </a:solidFill>
              </a:rPr>
              <a:t>Clients keep private feature extractors and average or share only the classifier head. One head must fit very different feature spaces.</a:t>
            </a:r>
            <a:endParaRPr lang="en-US" sz="1100" dirty="0"/>
          </a:p>
        </p:txBody>
      </p:sp>
      <p:sp>
        <p:nvSpPr>
          <p:cNvPr id="15" name="Shape 13"/>
          <p:cNvSpPr/>
          <p:nvPr/>
        </p:nvSpPr>
        <p:spPr>
          <a:xfrm>
            <a:off x="3410712" y="3090672"/>
            <a:ext cx="2286000" cy="292608"/>
          </a:xfrm>
          <a:prstGeom prst="roundRect">
            <a:avLst>
              <a:gd name="adj" fmla="val 15625"/>
            </a:avLst>
          </a:prstGeom>
          <a:solidFill>
            <a:schemeClr val="tx2"/>
          </a:solidFill>
          <a:ln w="12700">
            <a:solidFill>
              <a:schemeClr val="tx2"/>
            </a:solidFill>
            <a:prstDash val="solid"/>
          </a:ln>
        </p:spPr>
      </p:sp>
      <p:sp>
        <p:nvSpPr>
          <p:cNvPr id="16" name="Text 14"/>
          <p:cNvSpPr txBox="1"/>
          <p:nvPr/>
        </p:nvSpPr>
        <p:spPr>
          <a:xfrm>
            <a:off x="3410712" y="3090672"/>
            <a:ext cx="2286000" cy="292608"/>
          </a:xfrm>
          <a:prstGeom prst="rect">
            <a:avLst/>
          </a:prstGeom>
          <a:noFill/>
          <a:ln/>
        </p:spPr>
        <p:txBody>
          <a:bodyPr wrap="square" lIns="0" tIns="0" rIns="0" bIns="0" rtlCol="0" anchor="ctr"/>
          <a:lstStyle/>
          <a:p>
            <a:pPr algn="ctr" indent="0" marL="0">
              <a:buNone/>
            </a:pPr>
            <a:r>
              <a:rPr lang="en-US" sz="1000" b="1" dirty="0">
                <a:solidFill>
                  <a:schemeClr val="bg1"/>
                </a:solidFill>
              </a:rPr>
              <a:t>Baseline: LG-FedAvg</a:t>
            </a:r>
            <a:endParaRPr lang="en-US" sz="1000" dirty="0"/>
          </a:p>
        </p:txBody>
      </p:sp>
      <p:sp>
        <p:nvSpPr>
          <p:cNvPr id="17" name="Shape 15"/>
          <p:cNvSpPr/>
          <p:nvPr/>
        </p:nvSpPr>
        <p:spPr>
          <a:xfrm>
            <a:off x="6035040" y="1188720"/>
            <a:ext cx="2606040" cy="2331720"/>
          </a:xfrm>
          <a:prstGeom prst="roundRect">
            <a:avLst>
              <a:gd name="adj" fmla="val 2353"/>
            </a:avLst>
          </a:prstGeom>
          <a:solidFill>
            <a:schemeClr val="bg2"/>
          </a:solidFill>
          <a:ln w="9525">
            <a:solidFill>
              <a:schemeClr val="accent4"/>
            </a:solidFill>
            <a:prstDash val="solid"/>
          </a:ln>
        </p:spPr>
      </p:sp>
      <p:sp>
        <p:nvSpPr>
          <p:cNvPr id="18" name="Text 16"/>
          <p:cNvSpPr txBox="1"/>
          <p:nvPr/>
        </p:nvSpPr>
        <p:spPr>
          <a:xfrm>
            <a:off x="6199632" y="1325880"/>
            <a:ext cx="2286000" cy="274320"/>
          </a:xfrm>
          <a:prstGeom prst="rect">
            <a:avLst/>
          </a:prstGeom>
          <a:noFill/>
          <a:ln/>
        </p:spPr>
        <p:txBody>
          <a:bodyPr wrap="square" lIns="0" tIns="0" rIns="0" bIns="0" rtlCol="0" anchor="t"/>
          <a:lstStyle/>
          <a:p>
            <a:pPr indent="0" marL="0">
              <a:buNone/>
            </a:pPr>
            <a:r>
              <a:rPr lang="en-US" sz="1300" b="1" dirty="0">
                <a:solidFill>
                  <a:schemeClr val="tx2"/>
                </a:solidFill>
              </a:rPr>
              <a:t>Prototype sharing</a:t>
            </a:r>
            <a:endParaRPr lang="en-US" sz="1300" dirty="0"/>
          </a:p>
        </p:txBody>
      </p:sp>
      <p:sp>
        <p:nvSpPr>
          <p:cNvPr id="19" name="Text 17"/>
          <p:cNvSpPr txBox="1"/>
          <p:nvPr/>
        </p:nvSpPr>
        <p:spPr>
          <a:xfrm>
            <a:off x="6199632" y="1600200"/>
            <a:ext cx="2286000" cy="228600"/>
          </a:xfrm>
          <a:prstGeom prst="rect">
            <a:avLst/>
          </a:prstGeom>
          <a:noFill/>
          <a:ln/>
        </p:spPr>
        <p:txBody>
          <a:bodyPr wrap="square" lIns="0" tIns="0" rIns="0" bIns="0" rtlCol="0" anchor="t"/>
          <a:lstStyle/>
          <a:p>
            <a:pPr indent="0" marL="0">
              <a:buNone/>
            </a:pPr>
            <a:r>
              <a:rPr lang="en-US" sz="1000" b="1" dirty="0">
                <a:solidFill>
                  <a:schemeClr val="accent1"/>
                </a:solidFill>
              </a:rPr>
              <a:t>FedProto (2022) · FedTGP (2024)</a:t>
            </a:r>
            <a:endParaRPr lang="en-US" sz="1000" dirty="0"/>
          </a:p>
        </p:txBody>
      </p:sp>
      <p:sp>
        <p:nvSpPr>
          <p:cNvPr id="20" name="Text 18"/>
          <p:cNvSpPr txBox="1"/>
          <p:nvPr/>
        </p:nvSpPr>
        <p:spPr>
          <a:xfrm>
            <a:off x="6199632" y="1901952"/>
            <a:ext cx="2286000" cy="1143000"/>
          </a:xfrm>
          <a:prstGeom prst="rect">
            <a:avLst/>
          </a:prstGeom>
          <a:noFill/>
          <a:ln/>
        </p:spPr>
        <p:txBody>
          <a:bodyPr wrap="square" lIns="0" tIns="0" rIns="0" bIns="0" rtlCol="0" anchor="t"/>
          <a:lstStyle/>
          <a:p>
            <a:pPr indent="0" marL="0">
              <a:buNone/>
            </a:pPr>
            <a:r>
              <a:rPr lang="en-US" sz="1100" dirty="0">
                <a:solidFill>
                  <a:schemeClr val="accent2"/>
                </a:solidFill>
              </a:rPr>
              <a:t>Clients send per-class mean features; the server averages them. A single averaged prototype per class drifts away from every client's true class centre.</a:t>
            </a:r>
            <a:endParaRPr lang="en-US" sz="1100" dirty="0"/>
          </a:p>
        </p:txBody>
      </p:sp>
      <p:sp>
        <p:nvSpPr>
          <p:cNvPr id="21" name="Shape 19"/>
          <p:cNvSpPr/>
          <p:nvPr/>
        </p:nvSpPr>
        <p:spPr>
          <a:xfrm>
            <a:off x="6199632" y="3090672"/>
            <a:ext cx="2286000" cy="292608"/>
          </a:xfrm>
          <a:prstGeom prst="roundRect">
            <a:avLst>
              <a:gd name="adj" fmla="val 15625"/>
            </a:avLst>
          </a:prstGeom>
          <a:solidFill>
            <a:schemeClr val="tx2"/>
          </a:solidFill>
          <a:ln w="12700">
            <a:solidFill>
              <a:schemeClr val="tx2"/>
            </a:solidFill>
            <a:prstDash val="solid"/>
          </a:ln>
        </p:spPr>
      </p:sp>
      <p:sp>
        <p:nvSpPr>
          <p:cNvPr id="22" name="Text 20"/>
          <p:cNvSpPr txBox="1"/>
          <p:nvPr/>
        </p:nvSpPr>
        <p:spPr>
          <a:xfrm>
            <a:off x="6199632" y="3090672"/>
            <a:ext cx="2286000" cy="292608"/>
          </a:xfrm>
          <a:prstGeom prst="rect">
            <a:avLst/>
          </a:prstGeom>
          <a:noFill/>
          <a:ln/>
        </p:spPr>
        <p:txBody>
          <a:bodyPr wrap="square" lIns="0" tIns="0" rIns="0" bIns="0" rtlCol="0" anchor="ctr"/>
          <a:lstStyle/>
          <a:p>
            <a:pPr algn="ctr" indent="0" marL="0">
              <a:buNone/>
            </a:pPr>
            <a:r>
              <a:rPr lang="en-US" sz="1000" b="1" dirty="0">
                <a:solidFill>
                  <a:schemeClr val="bg1"/>
                </a:solidFill>
              </a:rPr>
              <a:t>Baseline: FedProto</a:t>
            </a:r>
            <a:endParaRPr lang="en-US" sz="1000" dirty="0"/>
          </a:p>
        </p:txBody>
      </p:sp>
      <p:sp>
        <p:nvSpPr>
          <p:cNvPr id="23" name="Shape 21"/>
          <p:cNvSpPr/>
          <p:nvPr/>
        </p:nvSpPr>
        <p:spPr>
          <a:xfrm>
            <a:off x="457200" y="3703320"/>
            <a:ext cx="8229600" cy="731520"/>
          </a:xfrm>
          <a:prstGeom prst="roundRect">
            <a:avLst>
              <a:gd name="adj" fmla="val 7500"/>
            </a:avLst>
          </a:prstGeom>
          <a:solidFill>
            <a:schemeClr val="accent3"/>
          </a:solidFill>
          <a:ln w="9525">
            <a:solidFill>
              <a:schemeClr val="accent3"/>
            </a:solidFill>
            <a:prstDash val="solid"/>
          </a:ln>
        </p:spPr>
      </p:sp>
      <p:sp>
        <p:nvSpPr>
          <p:cNvPr id="24" name="Text 22"/>
          <p:cNvSpPr txBox="1"/>
          <p:nvPr/>
        </p:nvSpPr>
        <p:spPr>
          <a:xfrm>
            <a:off x="640080" y="3703320"/>
            <a:ext cx="7863840" cy="731520"/>
          </a:xfrm>
          <a:prstGeom prst="rect">
            <a:avLst/>
          </a:prstGeom>
          <a:noFill/>
          <a:ln/>
        </p:spPr>
        <p:txBody>
          <a:bodyPr wrap="square" lIns="0" tIns="0" rIns="0" bIns="0" rtlCol="0" anchor="ctr"/>
          <a:lstStyle/>
          <a:p>
            <a:pPr indent="0" marL="0">
              <a:buNone/>
            </a:pPr>
            <a:r>
              <a:rPr lang="en-US" sz="1200" b="1" dirty="0">
                <a:solidFill>
                  <a:schemeClr val="tx2"/>
                </a:solidFill>
              </a:rPr>
              <a:t>Fed-GDBD combines both ideas: </a:t>
            </a:r>
            <a:pPr indent="0" marL="0">
              <a:buNone/>
            </a:pPr>
            <a:r>
              <a:rPr lang="en-US" sz="1200" dirty="0">
                <a:solidFill>
                  <a:schemeClr val="tx1"/>
                </a:solidFill>
              </a:rPr>
              <a:t>several k-means++ prototypes per class (not one mean) train a server-side classifier g, which is then used as a distillation teacher rather than copied into clients. Irrelevant-class KD reduces forgetting.</a:t>
            </a:r>
            <a:endParaRPr lang="en-US" sz="120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nchor="ctr"/>
          <a:lstStyle/>
          <a:p>
            <a:pPr indent="0" marL="0">
              <a:buNone/>
            </a:pPr>
            <a:r>
              <a:rPr lang="en-US" sz="900" b="1" spc="100" kern="0" dirty="0">
                <a:solidFill>
                  <a:schemeClr val="accent1"/>
                </a:solidFill>
              </a:rPr>
              <a:t>PROPOSED METHODOLOGY · PIPELINE</a:t>
            </a:r>
            <a:endParaRPr lang="en-US" sz="9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One Communication Round of Fed-GDBD</a:t>
            </a:r>
            <a:endParaRPr lang="en-US" sz="2400" dirty="0"/>
          </a:p>
        </p:txBody>
      </p:sp>
      <p:sp>
        <p:nvSpPr>
          <p:cNvPr id="4" name="Text 0"/>
          <p:cNvSpPr/>
          <p:nvPr>
            <p:ph idx="102" type="body" hasCustomPrompt="1"/>
          </p:nvPr>
        </p:nvSpPr>
        <p:spPr>
          <a:xfrm>
            <a:off x="457200" y="4800600"/>
            <a:ext cx="5486400" cy="201168"/>
          </a:xfrm>
          <a:prstGeom prst="rect">
            <a:avLst/>
          </a:prstGeom>
          <a:noFill/>
          <a:ln/>
        </p:spPr>
        <p:txBody>
          <a:bodyPr wrap="square" lIns="0" tIns="0" rIns="0" bIns="0" rtlCol="0" anchor="ctr"/>
          <a:lstStyle/>
          <a:p>
            <a:pPr indent="0" marL="0">
              <a:buNone/>
            </a:pPr>
            <a:r>
              <a:rPr lang="en-US" sz="800" dirty="0">
                <a:solidFill>
                  <a:schemeClr val="accent5"/>
                </a:solidFill>
              </a:rPr>
              <a:t>PROPOSED METHODOLOGY</a:t>
            </a:r>
            <a:endParaRPr lang="en-US" sz="800" dirty="0"/>
          </a:p>
        </p:txBody>
      </p:sp>
      <p:sp>
        <p:nvSpPr>
          <p:cNvPr id="5" name="Shape 3"/>
          <p:cNvSpPr/>
          <p:nvPr/>
        </p:nvSpPr>
        <p:spPr>
          <a:xfrm>
            <a:off x="457200" y="1143000"/>
            <a:ext cx="8229600" cy="457200"/>
          </a:xfrm>
          <a:prstGeom prst="roundRect">
            <a:avLst>
              <a:gd name="adj" fmla="val 12000"/>
            </a:avLst>
          </a:prstGeom>
          <a:solidFill>
            <a:schemeClr val="bg2"/>
          </a:solidFill>
          <a:ln w="9525">
            <a:solidFill>
              <a:schemeClr val="accent4"/>
            </a:solidFill>
            <a:prstDash val="solid"/>
          </a:ln>
        </p:spPr>
      </p:sp>
      <p:sp>
        <p:nvSpPr>
          <p:cNvPr id="6" name="Text 4"/>
          <p:cNvSpPr txBox="1"/>
          <p:nvPr/>
        </p:nvSpPr>
        <p:spPr>
          <a:xfrm>
            <a:off x="621792" y="1143000"/>
            <a:ext cx="7955280" cy="457200"/>
          </a:xfrm>
          <a:prstGeom prst="rect">
            <a:avLst/>
          </a:prstGeom>
          <a:noFill/>
          <a:ln/>
        </p:spPr>
        <p:txBody>
          <a:bodyPr wrap="square" lIns="0" tIns="0" rIns="0" bIns="0" rtlCol="0" anchor="ctr"/>
          <a:lstStyle/>
          <a:p>
            <a:pPr indent="0" marL="0">
              <a:buNone/>
            </a:pPr>
            <a:r>
              <a:rPr lang="en-US" sz="1100" b="1" dirty="0">
                <a:solidFill>
                  <a:schemeClr val="tx2"/>
                </a:solidFill>
              </a:rPr>
              <a:t>Round 0 (once): </a:t>
            </a:r>
            <a:pPr indent="0" marL="0">
              <a:buNone/>
            </a:pPr>
            <a:r>
              <a:rPr lang="en-US" sz="1100" dirty="0">
                <a:solidFill>
                  <a:schemeClr val="tx1"/>
                </a:solidFill>
              </a:rPr>
              <a:t>clients pre-train with cross-entropy → server sets g = sample-weighted average of client heads (Eq. 5)</a:t>
            </a:r>
            <a:endParaRPr lang="en-US" sz="1100" dirty="0"/>
          </a:p>
        </p:txBody>
      </p:sp>
      <p:sp>
        <p:nvSpPr>
          <p:cNvPr id="7" name="Shape 5"/>
          <p:cNvSpPr/>
          <p:nvPr/>
        </p:nvSpPr>
        <p:spPr>
          <a:xfrm>
            <a:off x="457200" y="1874520"/>
            <a:ext cx="1499616" cy="1783080"/>
          </a:xfrm>
          <a:prstGeom prst="roundRect">
            <a:avLst>
              <a:gd name="adj" fmla="val 3659"/>
            </a:avLst>
          </a:prstGeom>
          <a:solidFill>
            <a:schemeClr val="accent3"/>
          </a:solidFill>
          <a:ln w="9525">
            <a:solidFill>
              <a:schemeClr val="accent3"/>
            </a:solidFill>
            <a:prstDash val="solid"/>
          </a:ln>
        </p:spPr>
      </p:sp>
      <p:sp>
        <p:nvSpPr>
          <p:cNvPr id="8" name="Shape 6"/>
          <p:cNvSpPr/>
          <p:nvPr/>
        </p:nvSpPr>
        <p:spPr>
          <a:xfrm>
            <a:off x="594360" y="2011680"/>
            <a:ext cx="292608" cy="292608"/>
          </a:xfrm>
          <a:prstGeom prst="ellipse">
            <a:avLst/>
          </a:prstGeom>
          <a:solidFill>
            <a:schemeClr val="tx2"/>
          </a:solidFill>
          <a:ln w="12700">
            <a:solidFill>
              <a:schemeClr val="tx2"/>
            </a:solidFill>
            <a:prstDash val="solid"/>
          </a:ln>
        </p:spPr>
      </p:sp>
      <p:sp>
        <p:nvSpPr>
          <p:cNvPr id="9" name="Text 7"/>
          <p:cNvSpPr txBox="1"/>
          <p:nvPr/>
        </p:nvSpPr>
        <p:spPr>
          <a:xfrm>
            <a:off x="594360" y="20116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0" name="Text 8"/>
          <p:cNvSpPr txBox="1"/>
          <p:nvPr/>
        </p:nvSpPr>
        <p:spPr>
          <a:xfrm>
            <a:off x="594360" y="2377440"/>
            <a:ext cx="1225296" cy="457200"/>
          </a:xfrm>
          <a:prstGeom prst="rect">
            <a:avLst/>
          </a:prstGeom>
          <a:noFill/>
          <a:ln/>
        </p:spPr>
        <p:txBody>
          <a:bodyPr wrap="square" lIns="0" tIns="0" rIns="0" bIns="0" rtlCol="0" anchor="t"/>
          <a:lstStyle/>
          <a:p>
            <a:pPr indent="0" marL="0">
              <a:buNone/>
            </a:pPr>
            <a:r>
              <a:rPr lang="en-US" sz="1200" b="1" dirty="0">
                <a:solidFill>
                  <a:schemeClr val="tx2"/>
                </a:solidFill>
              </a:rPr>
              <a:t>Local training</a:t>
            </a:r>
            <a:endParaRPr lang="en-US" sz="1200" dirty="0"/>
          </a:p>
        </p:txBody>
      </p:sp>
      <p:sp>
        <p:nvSpPr>
          <p:cNvPr id="11" name="Text 9"/>
          <p:cNvSpPr txBox="1"/>
          <p:nvPr/>
        </p:nvSpPr>
        <p:spPr>
          <a:xfrm>
            <a:off x="594360" y="2834640"/>
            <a:ext cx="1271016" cy="777240"/>
          </a:xfrm>
          <a:prstGeom prst="rect">
            <a:avLst/>
          </a:prstGeom>
          <a:noFill/>
          <a:ln/>
        </p:spPr>
        <p:txBody>
          <a:bodyPr wrap="square" lIns="0" tIns="0" rIns="0" bIns="0" rtlCol="0" anchor="t"/>
          <a:lstStyle/>
          <a:p>
            <a:pPr indent="0" marL="0">
              <a:buNone/>
            </a:pPr>
            <a:r>
              <a:rPr lang="en-US" sz="1000" dirty="0">
                <a:solidFill>
                  <a:schemeClr val="accent2"/>
                </a:solidFill>
              </a:rPr>
              <a:t>CE + T²·IKD from the client's best past model (Eq. 11)</a:t>
            </a:r>
            <a:endParaRPr lang="en-US" sz="1000" dirty="0"/>
          </a:p>
        </p:txBody>
      </p:sp>
      <p:sp>
        <p:nvSpPr>
          <p:cNvPr id="12" name="Shape 10"/>
          <p:cNvSpPr/>
          <p:nvPr/>
        </p:nvSpPr>
        <p:spPr>
          <a:xfrm rot="5400000">
            <a:off x="1975104" y="2711196"/>
            <a:ext cx="146304" cy="109728"/>
          </a:xfrm>
          <a:prstGeom prst="triangle">
            <a:avLst/>
          </a:prstGeom>
          <a:solidFill>
            <a:schemeClr val="accent5"/>
          </a:solidFill>
          <a:ln w="12700">
            <a:solidFill>
              <a:schemeClr val="accent5"/>
            </a:solidFill>
            <a:prstDash val="solid"/>
          </a:ln>
        </p:spPr>
      </p:sp>
      <p:sp>
        <p:nvSpPr>
          <p:cNvPr id="13" name="Shape 11"/>
          <p:cNvSpPr/>
          <p:nvPr/>
        </p:nvSpPr>
        <p:spPr>
          <a:xfrm>
            <a:off x="2139696" y="1874520"/>
            <a:ext cx="1499616" cy="1783080"/>
          </a:xfrm>
          <a:prstGeom prst="roundRect">
            <a:avLst>
              <a:gd name="adj" fmla="val 3659"/>
            </a:avLst>
          </a:prstGeom>
          <a:solidFill>
            <a:schemeClr val="accent3"/>
          </a:solidFill>
          <a:ln w="9525">
            <a:solidFill>
              <a:schemeClr val="accent3"/>
            </a:solidFill>
            <a:prstDash val="solid"/>
          </a:ln>
        </p:spPr>
      </p:sp>
      <p:sp>
        <p:nvSpPr>
          <p:cNvPr id="14" name="Shape 12"/>
          <p:cNvSpPr/>
          <p:nvPr/>
        </p:nvSpPr>
        <p:spPr>
          <a:xfrm>
            <a:off x="2276856" y="2011680"/>
            <a:ext cx="292608" cy="292608"/>
          </a:xfrm>
          <a:prstGeom prst="ellipse">
            <a:avLst/>
          </a:prstGeom>
          <a:solidFill>
            <a:schemeClr val="tx2"/>
          </a:solidFill>
          <a:ln w="12700">
            <a:solidFill>
              <a:schemeClr val="tx2"/>
            </a:solidFill>
            <a:prstDash val="solid"/>
          </a:ln>
        </p:spPr>
      </p:sp>
      <p:sp>
        <p:nvSpPr>
          <p:cNvPr id="15" name="Text 13"/>
          <p:cNvSpPr txBox="1"/>
          <p:nvPr/>
        </p:nvSpPr>
        <p:spPr>
          <a:xfrm>
            <a:off x="2276856" y="20116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Text 14"/>
          <p:cNvSpPr txBox="1"/>
          <p:nvPr/>
        </p:nvSpPr>
        <p:spPr>
          <a:xfrm>
            <a:off x="2276856" y="2377440"/>
            <a:ext cx="1225296" cy="457200"/>
          </a:xfrm>
          <a:prstGeom prst="rect">
            <a:avLst/>
          </a:prstGeom>
          <a:noFill/>
          <a:ln/>
        </p:spPr>
        <p:txBody>
          <a:bodyPr wrap="square" lIns="0" tIns="0" rIns="0" bIns="0" rtlCol="0" anchor="t"/>
          <a:lstStyle/>
          <a:p>
            <a:pPr indent="0" marL="0">
              <a:buNone/>
            </a:pPr>
            <a:r>
              <a:rPr lang="en-US" sz="1200" b="1" dirty="0">
                <a:solidFill>
                  <a:schemeClr val="tx2"/>
                </a:solidFill>
              </a:rPr>
              <a:t>Multi-prototype clustering</a:t>
            </a:r>
            <a:endParaRPr lang="en-US" sz="1200" dirty="0"/>
          </a:p>
        </p:txBody>
      </p:sp>
      <p:sp>
        <p:nvSpPr>
          <p:cNvPr id="17" name="Text 15"/>
          <p:cNvSpPr txBox="1"/>
          <p:nvPr/>
        </p:nvSpPr>
        <p:spPr>
          <a:xfrm>
            <a:off x="2276856" y="2834640"/>
            <a:ext cx="1271016" cy="777240"/>
          </a:xfrm>
          <a:prstGeom prst="rect">
            <a:avLst/>
          </a:prstGeom>
          <a:noFill/>
          <a:ln/>
        </p:spPr>
        <p:txBody>
          <a:bodyPr wrap="square" lIns="0" tIns="0" rIns="0" bIns="0" rtlCol="0" anchor="t"/>
          <a:lstStyle/>
          <a:p>
            <a:pPr indent="0" marL="0">
              <a:buNone/>
            </a:pPr>
            <a:r>
              <a:rPr lang="en-US" sz="1000" dirty="0">
                <a:solidFill>
                  <a:schemeClr val="accent2"/>
                </a:solidFill>
              </a:rPr>
              <a:t>k-means++ on features f(x), v = 5 prototypes per class (Eq. 3–4)</a:t>
            </a:r>
            <a:endParaRPr lang="en-US" sz="1000" dirty="0"/>
          </a:p>
        </p:txBody>
      </p:sp>
      <p:sp>
        <p:nvSpPr>
          <p:cNvPr id="18" name="Shape 16"/>
          <p:cNvSpPr/>
          <p:nvPr/>
        </p:nvSpPr>
        <p:spPr>
          <a:xfrm rot="5400000">
            <a:off x="3657600" y="2711196"/>
            <a:ext cx="146304" cy="109728"/>
          </a:xfrm>
          <a:prstGeom prst="triangle">
            <a:avLst/>
          </a:prstGeom>
          <a:solidFill>
            <a:schemeClr val="accent5"/>
          </a:solidFill>
          <a:ln w="12700">
            <a:solidFill>
              <a:schemeClr val="accent5"/>
            </a:solidFill>
            <a:prstDash val="solid"/>
          </a:ln>
        </p:spPr>
      </p:sp>
      <p:sp>
        <p:nvSpPr>
          <p:cNvPr id="19" name="Shape 17"/>
          <p:cNvSpPr/>
          <p:nvPr/>
        </p:nvSpPr>
        <p:spPr>
          <a:xfrm>
            <a:off x="3822192" y="1874520"/>
            <a:ext cx="1499616" cy="1783080"/>
          </a:xfrm>
          <a:prstGeom prst="roundRect">
            <a:avLst>
              <a:gd name="adj" fmla="val 3659"/>
            </a:avLst>
          </a:prstGeom>
          <a:solidFill>
            <a:schemeClr val="tx2"/>
          </a:solidFill>
          <a:ln w="9525">
            <a:solidFill>
              <a:schemeClr val="tx2"/>
            </a:solidFill>
            <a:prstDash val="solid"/>
          </a:ln>
        </p:spPr>
      </p:sp>
      <p:sp>
        <p:nvSpPr>
          <p:cNvPr id="20" name="Shape 18"/>
          <p:cNvSpPr/>
          <p:nvPr/>
        </p:nvSpPr>
        <p:spPr>
          <a:xfrm>
            <a:off x="3959352" y="2011680"/>
            <a:ext cx="292608" cy="292608"/>
          </a:xfrm>
          <a:prstGeom prst="ellipse">
            <a:avLst/>
          </a:prstGeom>
          <a:solidFill>
            <a:schemeClr val="accent1"/>
          </a:solidFill>
          <a:ln w="12700">
            <a:solidFill>
              <a:schemeClr val="accent1"/>
            </a:solidFill>
            <a:prstDash val="solid"/>
          </a:ln>
        </p:spPr>
      </p:sp>
      <p:sp>
        <p:nvSpPr>
          <p:cNvPr id="21" name="Text 19"/>
          <p:cNvSpPr txBox="1"/>
          <p:nvPr/>
        </p:nvSpPr>
        <p:spPr>
          <a:xfrm>
            <a:off x="3959352" y="20116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2" name="Text 20"/>
          <p:cNvSpPr txBox="1"/>
          <p:nvPr/>
        </p:nvSpPr>
        <p:spPr>
          <a:xfrm>
            <a:off x="3959352" y="2377440"/>
            <a:ext cx="1225296" cy="457200"/>
          </a:xfrm>
          <a:prstGeom prst="rect">
            <a:avLst/>
          </a:prstGeom>
          <a:noFill/>
          <a:ln/>
        </p:spPr>
        <p:txBody>
          <a:bodyPr wrap="square" lIns="0" tIns="0" rIns="0" bIns="0" rtlCol="0" anchor="t"/>
          <a:lstStyle/>
          <a:p>
            <a:pPr indent="0" marL="0">
              <a:buNone/>
            </a:pPr>
            <a:r>
              <a:rPr lang="en-US" sz="1200" b="1" dirty="0">
                <a:solidFill>
                  <a:schemeClr val="bg1"/>
                </a:solidFill>
              </a:rPr>
              <a:t>Train global learner g</a:t>
            </a:r>
            <a:endParaRPr lang="en-US" sz="1200" dirty="0"/>
          </a:p>
        </p:txBody>
      </p:sp>
      <p:sp>
        <p:nvSpPr>
          <p:cNvPr id="23" name="Text 21"/>
          <p:cNvSpPr txBox="1"/>
          <p:nvPr/>
        </p:nvSpPr>
        <p:spPr>
          <a:xfrm>
            <a:off x="3959352" y="2834640"/>
            <a:ext cx="1271016" cy="777240"/>
          </a:xfrm>
          <a:prstGeom prst="rect">
            <a:avLst/>
          </a:prstGeom>
          <a:noFill/>
          <a:ln/>
        </p:spPr>
        <p:txBody>
          <a:bodyPr wrap="square" lIns="0" tIns="0" rIns="0" bIns="0" rtlCol="0" anchor="t"/>
          <a:lstStyle/>
          <a:p>
            <a:pPr indent="0" marL="0">
              <a:buNone/>
            </a:pPr>
            <a:r>
              <a:rPr lang="en-US" sz="1000" dirty="0">
                <a:solidFill>
                  <a:schemeClr val="accent6"/>
                </a:solidFill>
              </a:rPr>
              <a:t>Server pools all prototypes Pᵍ and trains g with CE (Eq. 12)</a:t>
            </a:r>
            <a:endParaRPr lang="en-US" sz="1000" dirty="0"/>
          </a:p>
        </p:txBody>
      </p:sp>
      <p:sp>
        <p:nvSpPr>
          <p:cNvPr id="24" name="Shape 22"/>
          <p:cNvSpPr/>
          <p:nvPr/>
        </p:nvSpPr>
        <p:spPr>
          <a:xfrm rot="5400000">
            <a:off x="5340096" y="2711196"/>
            <a:ext cx="146304" cy="109728"/>
          </a:xfrm>
          <a:prstGeom prst="triangle">
            <a:avLst/>
          </a:prstGeom>
          <a:solidFill>
            <a:schemeClr val="accent5"/>
          </a:solidFill>
          <a:ln w="12700">
            <a:solidFill>
              <a:schemeClr val="accent5"/>
            </a:solidFill>
            <a:prstDash val="solid"/>
          </a:ln>
        </p:spPr>
      </p:sp>
      <p:sp>
        <p:nvSpPr>
          <p:cNvPr id="25" name="Shape 23"/>
          <p:cNvSpPr/>
          <p:nvPr/>
        </p:nvSpPr>
        <p:spPr>
          <a:xfrm>
            <a:off x="5504688" y="1874520"/>
            <a:ext cx="1499616" cy="1783080"/>
          </a:xfrm>
          <a:prstGeom prst="roundRect">
            <a:avLst>
              <a:gd name="adj" fmla="val 3659"/>
            </a:avLst>
          </a:prstGeom>
          <a:solidFill>
            <a:schemeClr val="tx2"/>
          </a:solidFill>
          <a:ln w="9525">
            <a:solidFill>
              <a:schemeClr val="tx2"/>
            </a:solidFill>
            <a:prstDash val="solid"/>
          </a:ln>
        </p:spPr>
      </p:sp>
      <p:sp>
        <p:nvSpPr>
          <p:cNvPr id="26" name="Shape 24"/>
          <p:cNvSpPr/>
          <p:nvPr/>
        </p:nvSpPr>
        <p:spPr>
          <a:xfrm>
            <a:off x="5641848" y="2011680"/>
            <a:ext cx="292608" cy="292608"/>
          </a:xfrm>
          <a:prstGeom prst="ellipse">
            <a:avLst/>
          </a:prstGeom>
          <a:solidFill>
            <a:schemeClr val="accent1"/>
          </a:solidFill>
          <a:ln w="12700">
            <a:solidFill>
              <a:schemeClr val="accent1"/>
            </a:solidFill>
            <a:prstDash val="solid"/>
          </a:ln>
        </p:spPr>
      </p:sp>
      <p:sp>
        <p:nvSpPr>
          <p:cNvPr id="27" name="Text 25"/>
          <p:cNvSpPr txBox="1"/>
          <p:nvPr/>
        </p:nvSpPr>
        <p:spPr>
          <a:xfrm>
            <a:off x="5641848" y="20116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8" name="Text 26"/>
          <p:cNvSpPr txBox="1"/>
          <p:nvPr/>
        </p:nvSpPr>
        <p:spPr>
          <a:xfrm>
            <a:off x="5641848" y="2377440"/>
            <a:ext cx="1225296" cy="457200"/>
          </a:xfrm>
          <a:prstGeom prst="rect">
            <a:avLst/>
          </a:prstGeom>
          <a:noFill/>
          <a:ln/>
        </p:spPr>
        <p:txBody>
          <a:bodyPr wrap="square" lIns="0" tIns="0" rIns="0" bIns="0" rtlCol="0" anchor="t"/>
          <a:lstStyle/>
          <a:p>
            <a:pPr indent="0" marL="0">
              <a:buNone/>
            </a:pPr>
            <a:r>
              <a:rPr lang="en-US" sz="1200" b="1" dirty="0">
                <a:solidFill>
                  <a:schemeClr val="bg1"/>
                </a:solidFill>
              </a:rPr>
              <a:t>Broadcast g</a:t>
            </a:r>
            <a:endParaRPr lang="en-US" sz="1200" dirty="0"/>
          </a:p>
        </p:txBody>
      </p:sp>
      <p:sp>
        <p:nvSpPr>
          <p:cNvPr id="29" name="Text 27"/>
          <p:cNvSpPr txBox="1"/>
          <p:nvPr/>
        </p:nvSpPr>
        <p:spPr>
          <a:xfrm>
            <a:off x="5641848" y="2834640"/>
            <a:ext cx="1271016" cy="777240"/>
          </a:xfrm>
          <a:prstGeom prst="rect">
            <a:avLst/>
          </a:prstGeom>
          <a:noFill/>
          <a:ln/>
        </p:spPr>
        <p:txBody>
          <a:bodyPr wrap="square" lIns="0" tIns="0" rIns="0" bIns="0" rtlCol="0" anchor="t"/>
          <a:lstStyle/>
          <a:p>
            <a:pPr indent="0" marL="0">
              <a:buNone/>
            </a:pPr>
            <a:r>
              <a:rPr lang="en-US" sz="1000" dirty="0">
                <a:solidFill>
                  <a:schemeClr val="accent6"/>
                </a:solidFill>
              </a:rPr>
              <a:t>g = Linear(512 → C), same shape as every client head</a:t>
            </a:r>
            <a:endParaRPr lang="en-US" sz="1000" dirty="0"/>
          </a:p>
        </p:txBody>
      </p:sp>
      <p:sp>
        <p:nvSpPr>
          <p:cNvPr id="30" name="Shape 28"/>
          <p:cNvSpPr/>
          <p:nvPr/>
        </p:nvSpPr>
        <p:spPr>
          <a:xfrm rot="5400000">
            <a:off x="7022592" y="2711196"/>
            <a:ext cx="146304" cy="109728"/>
          </a:xfrm>
          <a:prstGeom prst="triangle">
            <a:avLst/>
          </a:prstGeom>
          <a:solidFill>
            <a:schemeClr val="accent5"/>
          </a:solidFill>
          <a:ln w="12700">
            <a:solidFill>
              <a:schemeClr val="accent5"/>
            </a:solidFill>
            <a:prstDash val="solid"/>
          </a:ln>
        </p:spPr>
      </p:sp>
      <p:sp>
        <p:nvSpPr>
          <p:cNvPr id="31" name="Shape 29"/>
          <p:cNvSpPr/>
          <p:nvPr/>
        </p:nvSpPr>
        <p:spPr>
          <a:xfrm>
            <a:off x="7187184" y="1874520"/>
            <a:ext cx="1499616" cy="1783080"/>
          </a:xfrm>
          <a:prstGeom prst="roundRect">
            <a:avLst>
              <a:gd name="adj" fmla="val 3659"/>
            </a:avLst>
          </a:prstGeom>
          <a:solidFill>
            <a:schemeClr val="accent3"/>
          </a:solidFill>
          <a:ln w="9525">
            <a:solidFill>
              <a:schemeClr val="accent3"/>
            </a:solidFill>
            <a:prstDash val="solid"/>
          </a:ln>
        </p:spPr>
      </p:sp>
      <p:sp>
        <p:nvSpPr>
          <p:cNvPr id="32" name="Shape 30"/>
          <p:cNvSpPr/>
          <p:nvPr/>
        </p:nvSpPr>
        <p:spPr>
          <a:xfrm>
            <a:off x="7324344" y="2011680"/>
            <a:ext cx="292608" cy="292608"/>
          </a:xfrm>
          <a:prstGeom prst="ellipse">
            <a:avLst/>
          </a:prstGeom>
          <a:solidFill>
            <a:schemeClr val="tx2"/>
          </a:solidFill>
          <a:ln w="12700">
            <a:solidFill>
              <a:schemeClr val="tx2"/>
            </a:solidFill>
            <a:prstDash val="solid"/>
          </a:ln>
        </p:spPr>
      </p:sp>
      <p:sp>
        <p:nvSpPr>
          <p:cNvPr id="33" name="Text 31"/>
          <p:cNvSpPr txBox="1"/>
          <p:nvPr/>
        </p:nvSpPr>
        <p:spPr>
          <a:xfrm>
            <a:off x="7324344" y="20116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4" name="Text 32"/>
          <p:cNvSpPr txBox="1"/>
          <p:nvPr/>
        </p:nvSpPr>
        <p:spPr>
          <a:xfrm>
            <a:off x="7324344" y="2377440"/>
            <a:ext cx="1225296" cy="457200"/>
          </a:xfrm>
          <a:prstGeom prst="rect">
            <a:avLst/>
          </a:prstGeom>
          <a:noFill/>
          <a:ln/>
        </p:spPr>
        <p:txBody>
          <a:bodyPr wrap="square" lIns="0" tIns="0" rIns="0" bIns="0" rtlCol="0" anchor="t"/>
          <a:lstStyle/>
          <a:p>
            <a:pPr indent="0" marL="0">
              <a:buNone/>
            </a:pPr>
            <a:r>
              <a:rPr lang="en-US" sz="1200" b="1" dirty="0">
                <a:solidFill>
                  <a:schemeClr val="tx2"/>
                </a:solidFill>
              </a:rPr>
              <a:t>Boundary distillation</a:t>
            </a:r>
            <a:endParaRPr lang="en-US" sz="1200" dirty="0"/>
          </a:p>
        </p:txBody>
      </p:sp>
      <p:sp>
        <p:nvSpPr>
          <p:cNvPr id="35" name="Text 33"/>
          <p:cNvSpPr txBox="1"/>
          <p:nvPr/>
        </p:nvSpPr>
        <p:spPr>
          <a:xfrm>
            <a:off x="7324344" y="2834640"/>
            <a:ext cx="1271016" cy="777240"/>
          </a:xfrm>
          <a:prstGeom prst="rect">
            <a:avLst/>
          </a:prstGeom>
          <a:noFill/>
          <a:ln/>
        </p:spPr>
        <p:txBody>
          <a:bodyPr wrap="square" lIns="0" tIns="0" rIns="0" bIns="0" rtlCol="0" anchor="t"/>
          <a:lstStyle/>
          <a:p>
            <a:pPr indent="0" marL="0">
              <a:buNone/>
            </a:pPr>
            <a:r>
              <a:rPr lang="en-US" sz="1000" dirty="0">
                <a:solidFill>
                  <a:schemeClr val="accent2"/>
                </a:solidFill>
              </a:rPr>
              <a:t>(1−α)·CE + α·T²·KL(g ‖ h) on local data (Eq. 13)</a:t>
            </a:r>
            <a:endParaRPr lang="en-US" sz="1000" dirty="0"/>
          </a:p>
        </p:txBody>
      </p:sp>
      <p:sp>
        <p:nvSpPr>
          <p:cNvPr id="36" name="Shape 34"/>
          <p:cNvSpPr/>
          <p:nvPr/>
        </p:nvSpPr>
        <p:spPr>
          <a:xfrm>
            <a:off x="457200" y="3931920"/>
            <a:ext cx="201168" cy="164592"/>
          </a:xfrm>
          <a:prstGeom prst="roundRect">
            <a:avLst>
              <a:gd name="adj" fmla="val 16667"/>
            </a:avLst>
          </a:prstGeom>
          <a:solidFill>
            <a:schemeClr val="accent3"/>
          </a:solidFill>
          <a:ln w="12700">
            <a:solidFill>
              <a:schemeClr val="accent3"/>
            </a:solidFill>
            <a:prstDash val="solid"/>
          </a:ln>
        </p:spPr>
      </p:sp>
      <p:sp>
        <p:nvSpPr>
          <p:cNvPr id="37" name="Text 35"/>
          <p:cNvSpPr txBox="1"/>
          <p:nvPr/>
        </p:nvSpPr>
        <p:spPr>
          <a:xfrm>
            <a:off x="731520" y="3904488"/>
            <a:ext cx="1097280" cy="228600"/>
          </a:xfrm>
          <a:prstGeom prst="rect">
            <a:avLst/>
          </a:prstGeom>
          <a:noFill/>
          <a:ln/>
        </p:spPr>
        <p:txBody>
          <a:bodyPr wrap="square" lIns="0" tIns="0" rIns="0" bIns="0" rtlCol="0" anchor="t"/>
          <a:lstStyle/>
          <a:p>
            <a:pPr indent="0" marL="0">
              <a:buNone/>
            </a:pPr>
            <a:r>
              <a:rPr lang="en-US" sz="1000" dirty="0">
                <a:solidFill>
                  <a:schemeClr val="accent2"/>
                </a:solidFill>
              </a:rPr>
              <a:t>client side</a:t>
            </a:r>
            <a:endParaRPr lang="en-US" sz="1000" dirty="0"/>
          </a:p>
        </p:txBody>
      </p:sp>
      <p:sp>
        <p:nvSpPr>
          <p:cNvPr id="38" name="Shape 36"/>
          <p:cNvSpPr/>
          <p:nvPr/>
        </p:nvSpPr>
        <p:spPr>
          <a:xfrm>
            <a:off x="1737360" y="3931920"/>
            <a:ext cx="201168" cy="164592"/>
          </a:xfrm>
          <a:prstGeom prst="roundRect">
            <a:avLst>
              <a:gd name="adj" fmla="val 16667"/>
            </a:avLst>
          </a:prstGeom>
          <a:solidFill>
            <a:schemeClr val="tx2"/>
          </a:solidFill>
          <a:ln w="12700">
            <a:solidFill>
              <a:schemeClr val="tx2"/>
            </a:solidFill>
            <a:prstDash val="solid"/>
          </a:ln>
        </p:spPr>
      </p:sp>
      <p:sp>
        <p:nvSpPr>
          <p:cNvPr id="39" name="Text 37"/>
          <p:cNvSpPr txBox="1"/>
          <p:nvPr/>
        </p:nvSpPr>
        <p:spPr>
          <a:xfrm>
            <a:off x="2011680" y="3904488"/>
            <a:ext cx="1097280" cy="228600"/>
          </a:xfrm>
          <a:prstGeom prst="rect">
            <a:avLst/>
          </a:prstGeom>
          <a:noFill/>
          <a:ln/>
        </p:spPr>
        <p:txBody>
          <a:bodyPr wrap="square" lIns="0" tIns="0" rIns="0" bIns="0" rtlCol="0" anchor="t"/>
          <a:lstStyle/>
          <a:p>
            <a:pPr indent="0" marL="0">
              <a:buNone/>
            </a:pPr>
            <a:r>
              <a:rPr lang="en-US" sz="1000" dirty="0">
                <a:solidFill>
                  <a:schemeClr val="accent2"/>
                </a:solidFill>
              </a:rPr>
              <a:t>server side</a:t>
            </a:r>
            <a:endParaRPr lang="en-US" sz="1000" dirty="0"/>
          </a:p>
        </p:txBody>
      </p:sp>
      <p:sp>
        <p:nvSpPr>
          <p:cNvPr id="40" name="Text 38"/>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100" b="1" dirty="0">
                <a:solidFill>
                  <a:schemeClr val="tx2"/>
                </a:solidFill>
              </a:rPr>
              <a:t>Communicated per round: </a:t>
            </a:r>
            <a:pPr indent="0" marL="0">
              <a:buNone/>
            </a:pPr>
            <a:r>
              <a:rPr lang="en-US" sz="1100" dirty="0">
                <a:solidFill>
                  <a:schemeClr val="tx1"/>
                </a:solidFill>
              </a:rPr>
              <a:t>up = prototypes only (v × classes × 512 floats, a few KB);  down = g (512·C + C weights). Raw data and feature-extractor weights never leave the client.</a:t>
            </a:r>
            <a:endParaRPr lang="en-US" sz="110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nchor="ctr"/>
          <a:lstStyle/>
          <a:p>
            <a:pPr indent="0" marL="0">
              <a:buNone/>
            </a:pPr>
            <a:r>
              <a:rPr lang="en-US" sz="900" b="1" spc="100" kern="0" dirty="0">
                <a:solidFill>
                  <a:schemeClr val="accent1"/>
                </a:solidFill>
              </a:rPr>
              <a:t>PROPOSED METHODOLOGY · OBJECTIVES</a:t>
            </a:r>
            <a:endParaRPr lang="en-US" sz="9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Three Learning Signals</a:t>
            </a:r>
            <a:endParaRPr lang="en-US" sz="2400" dirty="0"/>
          </a:p>
        </p:txBody>
      </p:sp>
      <p:sp>
        <p:nvSpPr>
          <p:cNvPr id="4" name="Text 0"/>
          <p:cNvSpPr/>
          <p:nvPr>
            <p:ph idx="102" type="body" hasCustomPrompt="1"/>
          </p:nvPr>
        </p:nvSpPr>
        <p:spPr>
          <a:xfrm>
            <a:off x="457200" y="4800600"/>
            <a:ext cx="5486400" cy="201168"/>
          </a:xfrm>
          <a:prstGeom prst="rect">
            <a:avLst/>
          </a:prstGeom>
          <a:noFill/>
          <a:ln/>
        </p:spPr>
        <p:txBody>
          <a:bodyPr wrap="square" lIns="0" tIns="0" rIns="0" bIns="0" rtlCol="0" anchor="ctr"/>
          <a:lstStyle/>
          <a:p>
            <a:pPr indent="0" marL="0">
              <a:buNone/>
            </a:pPr>
            <a:r>
              <a:rPr lang="en-US" sz="800" dirty="0">
                <a:solidFill>
                  <a:schemeClr val="accent5"/>
                </a:solidFill>
              </a:rPr>
              <a:t>PROPOSED METHODOLOGY</a:t>
            </a:r>
            <a:endParaRPr lang="en-US" sz="800" dirty="0"/>
          </a:p>
        </p:txBody>
      </p:sp>
      <p:sp>
        <p:nvSpPr>
          <p:cNvPr id="5" name="Shape 3"/>
          <p:cNvSpPr/>
          <p:nvPr/>
        </p:nvSpPr>
        <p:spPr>
          <a:xfrm>
            <a:off x="457200" y="1143000"/>
            <a:ext cx="8229600" cy="1005840"/>
          </a:xfrm>
          <a:prstGeom prst="roundRect">
            <a:avLst>
              <a:gd name="adj" fmla="val 5455"/>
            </a:avLst>
          </a:prstGeom>
          <a:solidFill>
            <a:schemeClr val="bg2"/>
          </a:solidFill>
          <a:ln w="9525">
            <a:solidFill>
              <a:schemeClr val="accent4"/>
            </a:solidFill>
            <a:prstDash val="solid"/>
          </a:ln>
        </p:spPr>
      </p:sp>
      <p:sp>
        <p:nvSpPr>
          <p:cNvPr id="6" name="Shape 4"/>
          <p:cNvSpPr/>
          <p:nvPr/>
        </p:nvSpPr>
        <p:spPr>
          <a:xfrm>
            <a:off x="621792" y="1289304"/>
            <a:ext cx="310896" cy="310896"/>
          </a:xfrm>
          <a:prstGeom prst="ellipse">
            <a:avLst/>
          </a:prstGeom>
          <a:solidFill>
            <a:schemeClr val="tx2"/>
          </a:solidFill>
          <a:ln w="12700">
            <a:solidFill>
              <a:schemeClr val="tx2"/>
            </a:solidFill>
            <a:prstDash val="solid"/>
          </a:ln>
        </p:spPr>
      </p:sp>
      <p:sp>
        <p:nvSpPr>
          <p:cNvPr id="7" name="Text 5"/>
          <p:cNvSpPr txBox="1"/>
          <p:nvPr/>
        </p:nvSpPr>
        <p:spPr>
          <a:xfrm>
            <a:off x="621792" y="128930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A</a:t>
            </a:r>
            <a:endParaRPr lang="en-US" sz="1100" dirty="0"/>
          </a:p>
        </p:txBody>
      </p:sp>
      <p:sp>
        <p:nvSpPr>
          <p:cNvPr id="8" name="Text 6"/>
          <p:cNvSpPr txBox="1"/>
          <p:nvPr/>
        </p:nvSpPr>
        <p:spPr>
          <a:xfrm>
            <a:off x="1051560" y="1252728"/>
            <a:ext cx="3108960" cy="274320"/>
          </a:xfrm>
          <a:prstGeom prst="rect">
            <a:avLst/>
          </a:prstGeom>
          <a:noFill/>
          <a:ln/>
        </p:spPr>
        <p:txBody>
          <a:bodyPr wrap="square" lIns="0" tIns="0" rIns="0" bIns="0" rtlCol="0" anchor="t"/>
          <a:lstStyle/>
          <a:p>
            <a:pPr indent="0" marL="0">
              <a:buNone/>
            </a:pPr>
            <a:r>
              <a:rPr lang="en-US" sz="1300" b="1" dirty="0">
                <a:solidFill>
                  <a:schemeClr val="tx2"/>
                </a:solidFill>
              </a:rPr>
              <a:t>Irrelevant-class KD (client)</a:t>
            </a:r>
            <a:endParaRPr lang="en-US" sz="1300" dirty="0"/>
          </a:p>
        </p:txBody>
      </p:sp>
      <p:sp>
        <p:nvSpPr>
          <p:cNvPr id="9" name="Shape 7"/>
          <p:cNvSpPr/>
          <p:nvPr/>
        </p:nvSpPr>
        <p:spPr>
          <a:xfrm>
            <a:off x="1051560" y="1581912"/>
            <a:ext cx="3291840" cy="438912"/>
          </a:xfrm>
          <a:prstGeom prst="roundRect">
            <a:avLst>
              <a:gd name="adj" fmla="val 8333"/>
            </a:avLst>
          </a:prstGeom>
          <a:solidFill>
            <a:schemeClr val="bg1"/>
          </a:solidFill>
          <a:ln w="9525">
            <a:solidFill>
              <a:schemeClr val="accent4"/>
            </a:solidFill>
            <a:prstDash val="solid"/>
          </a:ln>
        </p:spPr>
      </p:sp>
      <p:sp>
        <p:nvSpPr>
          <p:cNvPr id="10" name="Text 8"/>
          <p:cNvSpPr txBox="1"/>
          <p:nvPr/>
        </p:nvSpPr>
        <p:spPr>
          <a:xfrm>
            <a:off x="1143000" y="1581912"/>
            <a:ext cx="3154680" cy="438912"/>
          </a:xfrm>
          <a:prstGeom prst="rect">
            <a:avLst/>
          </a:prstGeom>
          <a:noFill/>
          <a:ln/>
        </p:spPr>
        <p:txBody>
          <a:bodyPr wrap="square" lIns="0" tIns="0" rIns="0" bIns="0" rtlCol="0" anchor="ctr"/>
          <a:lstStyle/>
          <a:p>
            <a:pPr indent="0" marL="0">
              <a:buNone/>
            </a:pPr>
            <a:r>
              <a:rPr lang="en-US" sz="1000" i="1" dirty="0">
                <a:solidFill>
                  <a:schemeClr val="tx2"/>
                </a:solidFill>
                <a:latin typeface="Cambria" pitchFamily="34" charset="0"/>
                <a:ea typeface="Cambria" pitchFamily="34" charset="-122"/>
                <a:cs typeface="Cambria" pitchFamily="34" charset="-120"/>
              </a:rPr>
              <a:t>L_local = L_CE + T² · KL( p̂ᵗ ‖ p̂ˢ ),  p̂ = softmax over classes j ≠ y</a:t>
            </a:r>
            <a:endParaRPr lang="en-US" sz="1000" dirty="0"/>
          </a:p>
        </p:txBody>
      </p:sp>
      <p:sp>
        <p:nvSpPr>
          <p:cNvPr id="11" name="Text 9"/>
          <p:cNvSpPr txBox="1"/>
          <p:nvPr/>
        </p:nvSpPr>
        <p:spPr>
          <a:xfrm>
            <a:off x="4572000" y="1252728"/>
            <a:ext cx="3977640" cy="822960"/>
          </a:xfrm>
          <a:prstGeom prst="rect">
            <a:avLst/>
          </a:prstGeom>
          <a:noFill/>
          <a:ln/>
        </p:spPr>
        <p:txBody>
          <a:bodyPr wrap="square" lIns="0" tIns="0" rIns="0" bIns="0" rtlCol="0" anchor="ctr"/>
          <a:lstStyle/>
          <a:p>
            <a:pPr indent="0" marL="0">
              <a:buNone/>
            </a:pPr>
            <a:r>
              <a:rPr lang="en-US" sz="1050" dirty="0">
                <a:solidFill>
                  <a:schemeClr val="accent2"/>
                </a:solidFill>
              </a:rPr>
              <a:t>Teacher = the client's own best model from earlier rounds. The target class is removed before the softmax, so the KD gradient on it is exactly zero; it only preserves how the client relates the other classes (protects against forgetting).</a:t>
            </a:r>
            <a:endParaRPr lang="en-US" sz="1050" dirty="0"/>
          </a:p>
        </p:txBody>
      </p:sp>
      <p:sp>
        <p:nvSpPr>
          <p:cNvPr id="12" name="Shape 10"/>
          <p:cNvSpPr/>
          <p:nvPr/>
        </p:nvSpPr>
        <p:spPr>
          <a:xfrm>
            <a:off x="457200" y="2258568"/>
            <a:ext cx="8229600" cy="1005840"/>
          </a:xfrm>
          <a:prstGeom prst="roundRect">
            <a:avLst>
              <a:gd name="adj" fmla="val 5455"/>
            </a:avLst>
          </a:prstGeom>
          <a:solidFill>
            <a:schemeClr val="bg2"/>
          </a:solidFill>
          <a:ln w="9525">
            <a:solidFill>
              <a:schemeClr val="accent4"/>
            </a:solidFill>
            <a:prstDash val="solid"/>
          </a:ln>
        </p:spPr>
      </p:sp>
      <p:sp>
        <p:nvSpPr>
          <p:cNvPr id="13" name="Shape 11"/>
          <p:cNvSpPr/>
          <p:nvPr/>
        </p:nvSpPr>
        <p:spPr>
          <a:xfrm>
            <a:off x="621792" y="2404872"/>
            <a:ext cx="310896" cy="310896"/>
          </a:xfrm>
          <a:prstGeom prst="ellipse">
            <a:avLst/>
          </a:prstGeom>
          <a:solidFill>
            <a:schemeClr val="accent1"/>
          </a:solidFill>
          <a:ln w="12700">
            <a:solidFill>
              <a:schemeClr val="accent1"/>
            </a:solidFill>
            <a:prstDash val="solid"/>
          </a:ln>
        </p:spPr>
      </p:sp>
      <p:sp>
        <p:nvSpPr>
          <p:cNvPr id="14" name="Text 12"/>
          <p:cNvSpPr txBox="1"/>
          <p:nvPr/>
        </p:nvSpPr>
        <p:spPr>
          <a:xfrm>
            <a:off x="621792" y="240487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B</a:t>
            </a:r>
            <a:endParaRPr lang="en-US" sz="1100" dirty="0"/>
          </a:p>
        </p:txBody>
      </p:sp>
      <p:sp>
        <p:nvSpPr>
          <p:cNvPr id="15" name="Text 13"/>
          <p:cNvSpPr txBox="1"/>
          <p:nvPr/>
        </p:nvSpPr>
        <p:spPr>
          <a:xfrm>
            <a:off x="1051560" y="2368296"/>
            <a:ext cx="3108960" cy="274320"/>
          </a:xfrm>
          <a:prstGeom prst="rect">
            <a:avLst/>
          </a:prstGeom>
          <a:noFill/>
          <a:ln/>
        </p:spPr>
        <p:txBody>
          <a:bodyPr wrap="square" lIns="0" tIns="0" rIns="0" bIns="0" rtlCol="0" anchor="t"/>
          <a:lstStyle/>
          <a:p>
            <a:pPr indent="0" marL="0">
              <a:buNone/>
            </a:pPr>
            <a:r>
              <a:rPr lang="en-US" sz="1300" b="1" dirty="0">
                <a:solidFill>
                  <a:schemeClr val="tx2"/>
                </a:solidFill>
              </a:rPr>
              <a:t>Global decision boundary learner (server)</a:t>
            </a:r>
            <a:endParaRPr lang="en-US" sz="1300" dirty="0"/>
          </a:p>
        </p:txBody>
      </p:sp>
      <p:sp>
        <p:nvSpPr>
          <p:cNvPr id="16" name="Shape 14"/>
          <p:cNvSpPr/>
          <p:nvPr/>
        </p:nvSpPr>
        <p:spPr>
          <a:xfrm>
            <a:off x="1051560" y="2697480"/>
            <a:ext cx="3291840" cy="438912"/>
          </a:xfrm>
          <a:prstGeom prst="roundRect">
            <a:avLst>
              <a:gd name="adj" fmla="val 8333"/>
            </a:avLst>
          </a:prstGeom>
          <a:solidFill>
            <a:schemeClr val="bg1"/>
          </a:solidFill>
          <a:ln w="9525">
            <a:solidFill>
              <a:schemeClr val="accent4"/>
            </a:solidFill>
            <a:prstDash val="solid"/>
          </a:ln>
        </p:spPr>
      </p:sp>
      <p:sp>
        <p:nvSpPr>
          <p:cNvPr id="17" name="Text 15"/>
          <p:cNvSpPr txBox="1"/>
          <p:nvPr/>
        </p:nvSpPr>
        <p:spPr>
          <a:xfrm>
            <a:off x="1143000" y="2697480"/>
            <a:ext cx="3154680" cy="438912"/>
          </a:xfrm>
          <a:prstGeom prst="rect">
            <a:avLst/>
          </a:prstGeom>
          <a:noFill/>
          <a:ln/>
        </p:spPr>
        <p:txBody>
          <a:bodyPr wrap="square" lIns="0" tIns="0" rIns="0" bIns="0" rtlCol="0" anchor="ctr"/>
          <a:lstStyle/>
          <a:p>
            <a:pPr indent="0" marL="0">
              <a:buNone/>
            </a:pPr>
            <a:r>
              <a:rPr lang="en-US" sz="1000" i="1" dirty="0">
                <a:solidFill>
                  <a:schemeClr val="tx2"/>
                </a:solidFill>
                <a:latin typeface="Cambria" pitchFamily="34" charset="0"/>
                <a:ea typeface="Cambria" pitchFamily="34" charset="-122"/>
                <a:cs typeface="Cambria" pitchFamily="34" charset="-120"/>
              </a:rPr>
              <a:t>L_g = − Σ_c y_c · log g(p)_c ,   p ∈ Pᵍ = P¹ ∪ … ∪ P^M</a:t>
            </a:r>
            <a:endParaRPr lang="en-US" sz="1000" dirty="0"/>
          </a:p>
        </p:txBody>
      </p:sp>
      <p:sp>
        <p:nvSpPr>
          <p:cNvPr id="18" name="Text 16"/>
          <p:cNvSpPr txBox="1"/>
          <p:nvPr/>
        </p:nvSpPr>
        <p:spPr>
          <a:xfrm>
            <a:off x="4572000" y="2368296"/>
            <a:ext cx="3977640" cy="822960"/>
          </a:xfrm>
          <a:prstGeom prst="rect">
            <a:avLst/>
          </a:prstGeom>
          <a:noFill/>
          <a:ln/>
        </p:spPr>
        <p:txBody>
          <a:bodyPr wrap="square" lIns="0" tIns="0" rIns="0" bIns="0" rtlCol="0" anchor="ctr"/>
          <a:lstStyle/>
          <a:p>
            <a:pPr indent="0" marL="0">
              <a:buNone/>
            </a:pPr>
            <a:r>
              <a:rPr lang="en-US" sz="1050" dirty="0">
                <a:solidFill>
                  <a:schemeClr val="accent2"/>
                </a:solidFill>
              </a:rPr>
              <a:t>g has exactly the structure of a client head. Trained on the multi-prototypes of all clients, it sees every client's class regions, which no single client can.</a:t>
            </a:r>
            <a:endParaRPr lang="en-US" sz="1050" dirty="0"/>
          </a:p>
        </p:txBody>
      </p:sp>
      <p:sp>
        <p:nvSpPr>
          <p:cNvPr id="19" name="Shape 17"/>
          <p:cNvSpPr/>
          <p:nvPr/>
        </p:nvSpPr>
        <p:spPr>
          <a:xfrm>
            <a:off x="457200" y="3374136"/>
            <a:ext cx="8229600" cy="1005840"/>
          </a:xfrm>
          <a:prstGeom prst="roundRect">
            <a:avLst>
              <a:gd name="adj" fmla="val 5455"/>
            </a:avLst>
          </a:prstGeom>
          <a:solidFill>
            <a:schemeClr val="bg2"/>
          </a:solidFill>
          <a:ln w="9525">
            <a:solidFill>
              <a:schemeClr val="accent4"/>
            </a:solidFill>
            <a:prstDash val="solid"/>
          </a:ln>
        </p:spPr>
      </p:sp>
      <p:sp>
        <p:nvSpPr>
          <p:cNvPr id="20" name="Shape 18"/>
          <p:cNvSpPr/>
          <p:nvPr/>
        </p:nvSpPr>
        <p:spPr>
          <a:xfrm>
            <a:off x="621792" y="3520440"/>
            <a:ext cx="310896" cy="310896"/>
          </a:xfrm>
          <a:prstGeom prst="ellipse">
            <a:avLst/>
          </a:prstGeom>
          <a:solidFill>
            <a:schemeClr val="tx2"/>
          </a:solidFill>
          <a:ln w="12700">
            <a:solidFill>
              <a:schemeClr val="tx2"/>
            </a:solidFill>
            <a:prstDash val="solid"/>
          </a:ln>
        </p:spPr>
      </p:sp>
      <p:sp>
        <p:nvSpPr>
          <p:cNvPr id="21" name="Text 19"/>
          <p:cNvSpPr txBox="1"/>
          <p:nvPr/>
        </p:nvSpPr>
        <p:spPr>
          <a:xfrm>
            <a:off x="621792" y="352044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C</a:t>
            </a:r>
            <a:endParaRPr lang="en-US" sz="1100" dirty="0"/>
          </a:p>
        </p:txBody>
      </p:sp>
      <p:sp>
        <p:nvSpPr>
          <p:cNvPr id="22" name="Text 20"/>
          <p:cNvSpPr txBox="1"/>
          <p:nvPr/>
        </p:nvSpPr>
        <p:spPr>
          <a:xfrm>
            <a:off x="1051560" y="3483864"/>
            <a:ext cx="3108960" cy="274320"/>
          </a:xfrm>
          <a:prstGeom prst="rect">
            <a:avLst/>
          </a:prstGeom>
          <a:noFill/>
          <a:ln/>
        </p:spPr>
        <p:txBody>
          <a:bodyPr wrap="square" lIns="0" tIns="0" rIns="0" bIns="0" rtlCol="0" anchor="t"/>
          <a:lstStyle/>
          <a:p>
            <a:pPr indent="0" marL="0">
              <a:buNone/>
            </a:pPr>
            <a:r>
              <a:rPr lang="en-US" sz="1300" b="1" dirty="0">
                <a:solidFill>
                  <a:schemeClr val="tx2"/>
                </a:solidFill>
              </a:rPr>
              <a:t>Global boundary distillation (client)</a:t>
            </a:r>
            <a:endParaRPr lang="en-US" sz="1300" dirty="0"/>
          </a:p>
        </p:txBody>
      </p:sp>
      <p:sp>
        <p:nvSpPr>
          <p:cNvPr id="23" name="Shape 21"/>
          <p:cNvSpPr/>
          <p:nvPr/>
        </p:nvSpPr>
        <p:spPr>
          <a:xfrm>
            <a:off x="1051560" y="3813048"/>
            <a:ext cx="3291840" cy="438912"/>
          </a:xfrm>
          <a:prstGeom prst="roundRect">
            <a:avLst>
              <a:gd name="adj" fmla="val 8333"/>
            </a:avLst>
          </a:prstGeom>
          <a:solidFill>
            <a:schemeClr val="bg1"/>
          </a:solidFill>
          <a:ln w="9525">
            <a:solidFill>
              <a:schemeClr val="accent4"/>
            </a:solidFill>
            <a:prstDash val="solid"/>
          </a:ln>
        </p:spPr>
      </p:sp>
      <p:sp>
        <p:nvSpPr>
          <p:cNvPr id="24" name="Text 22"/>
          <p:cNvSpPr txBox="1"/>
          <p:nvPr/>
        </p:nvSpPr>
        <p:spPr>
          <a:xfrm>
            <a:off x="1143000" y="3813048"/>
            <a:ext cx="3154680" cy="438912"/>
          </a:xfrm>
          <a:prstGeom prst="rect">
            <a:avLst/>
          </a:prstGeom>
          <a:noFill/>
          <a:ln/>
        </p:spPr>
        <p:txBody>
          <a:bodyPr wrap="square" lIns="0" tIns="0" rIns="0" bIns="0" rtlCol="0" anchor="ctr"/>
          <a:lstStyle/>
          <a:p>
            <a:pPr indent="0" marL="0">
              <a:buNone/>
            </a:pPr>
            <a:r>
              <a:rPr lang="en-US" sz="1000" i="1" dirty="0">
                <a:solidFill>
                  <a:schemeClr val="tx2"/>
                </a:solidFill>
                <a:latin typeface="Cambria" pitchFamily="34" charset="0"/>
                <a:ea typeface="Cambria" pitchFamily="34" charset="-122"/>
                <a:cs typeface="Cambria" pitchFamily="34" charset="-120"/>
              </a:rPr>
              <a:t>L_col = (1−α)·L_CE + α·T²·KL( σ(g(z)/T) ‖ σ(h(z)/T) ),  z = f(x)</a:t>
            </a:r>
            <a:endParaRPr lang="en-US" sz="1000" dirty="0"/>
          </a:p>
        </p:txBody>
      </p:sp>
      <p:sp>
        <p:nvSpPr>
          <p:cNvPr id="25" name="Text 23"/>
          <p:cNvSpPr txBox="1"/>
          <p:nvPr/>
        </p:nvSpPr>
        <p:spPr>
          <a:xfrm>
            <a:off x="4572000" y="3483864"/>
            <a:ext cx="3977640" cy="822960"/>
          </a:xfrm>
          <a:prstGeom prst="rect">
            <a:avLst/>
          </a:prstGeom>
          <a:noFill/>
          <a:ln/>
        </p:spPr>
        <p:txBody>
          <a:bodyPr wrap="square" lIns="0" tIns="0" rIns="0" bIns="0" rtlCol="0" anchor="ctr"/>
          <a:lstStyle/>
          <a:p>
            <a:pPr indent="0" marL="0">
              <a:buNone/>
            </a:pPr>
            <a:r>
              <a:rPr lang="en-US" sz="1050" dirty="0">
                <a:solidFill>
                  <a:schemeClr val="accent2"/>
                </a:solidFill>
              </a:rPr>
              <a:t>g is applied to the client's own features z, so the local head h learns the global boundary without forcing heterogeneous feature spaces to align.</a:t>
            </a:r>
            <a:endParaRPr lang="en-US" sz="1050" dirty="0"/>
          </a:p>
        </p:txBody>
      </p:sp>
      <p:sp>
        <p:nvSpPr>
          <p:cNvPr id="26" name="Text 24"/>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050" b="1" dirty="0">
                <a:solidFill>
                  <a:schemeClr val="tx2"/>
                </a:solidFill>
              </a:rPr>
              <a:t>Paper defaults (all kept): </a:t>
            </a:r>
            <a:pPr indent="0" marL="0">
              <a:buNone/>
            </a:pPr>
            <a:r>
              <a:rPr lang="en-US" sz="1050" dirty="0">
                <a:solidFill>
                  <a:schemeClr val="accent2"/>
                </a:solidFill>
              </a:rPr>
              <a:t>v = 5 · α = 0.7 · T = 20 · 100 k-means iterations · 5 local, 5 update and 5 server epochs per round</a:t>
            </a:r>
            <a:endParaRPr lang="en-US" sz="105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nchor="ctr"/>
          <a:lstStyle/>
          <a:p>
            <a:pPr indent="0" marL="0">
              <a:buNone/>
            </a:pPr>
            <a:r>
              <a:rPr lang="en-US" sz="900" b="1" spc="100" kern="0" dirty="0">
                <a:solidFill>
                  <a:schemeClr val="accent1"/>
                </a:solidFill>
              </a:rPr>
              <a:t>IMPLEMENTATION · CODE STRUCTURE</a:t>
            </a:r>
            <a:endParaRPr lang="en-US" sz="9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Built on HtFLlib, Fed-GDBD Written from Scratch</a:t>
            </a:r>
            <a:endParaRPr lang="en-US" sz="2400" dirty="0"/>
          </a:p>
        </p:txBody>
      </p:sp>
      <p:sp>
        <p:nvSpPr>
          <p:cNvPr id="4" name="Text 0"/>
          <p:cNvSpPr/>
          <p:nvPr>
            <p:ph idx="102" type="body" hasCustomPrompt="1"/>
          </p:nvPr>
        </p:nvSpPr>
        <p:spPr>
          <a:xfrm>
            <a:off x="457200" y="4800600"/>
            <a:ext cx="5486400" cy="201168"/>
          </a:xfrm>
          <a:prstGeom prst="rect">
            <a:avLst/>
          </a:prstGeom>
          <a:noFill/>
          <a:ln/>
        </p:spPr>
        <p:txBody>
          <a:bodyPr wrap="square" lIns="0" tIns="0" rIns="0" bIns="0" rtlCol="0" anchor="ctr"/>
          <a:lstStyle/>
          <a:p>
            <a:pPr indent="0" marL="0">
              <a:buNone/>
            </a:pPr>
            <a:r>
              <a:rPr lang="en-US" sz="800" dirty="0">
                <a:solidFill>
                  <a:schemeClr val="accent5"/>
                </a:solidFill>
              </a:rPr>
              <a:t>IMPLEMENTATION</a:t>
            </a:r>
            <a:endParaRPr lang="en-US" sz="800" dirty="0"/>
          </a:p>
        </p:txBody>
      </p:sp>
      <p:sp>
        <p:nvSpPr>
          <p:cNvPr id="5" name="Text 3"/>
          <p:cNvSpPr txBox="1"/>
          <p:nvPr/>
        </p:nvSpPr>
        <p:spPr>
          <a:xfrm>
            <a:off x="457200" y="1143000"/>
            <a:ext cx="3931920" cy="256032"/>
          </a:xfrm>
          <a:prstGeom prst="rect">
            <a:avLst/>
          </a:prstGeom>
          <a:noFill/>
          <a:ln/>
        </p:spPr>
        <p:txBody>
          <a:bodyPr wrap="square" lIns="0" tIns="0" rIns="0" bIns="0" rtlCol="0" anchor="t"/>
          <a:lstStyle/>
          <a:p>
            <a:pPr indent="0" marL="0">
              <a:buNone/>
            </a:pPr>
            <a:r>
              <a:rPr lang="en-US" sz="1200" b="1" dirty="0">
                <a:solidFill>
                  <a:schemeClr val="tx2"/>
                </a:solidFill>
              </a:rPr>
              <a:t>Repository layout</a:t>
            </a:r>
            <a:endParaRPr lang="en-US" sz="1200" dirty="0"/>
          </a:p>
        </p:txBody>
      </p:sp>
      <p:sp>
        <p:nvSpPr>
          <p:cNvPr id="6" name="Shape 4"/>
          <p:cNvSpPr/>
          <p:nvPr/>
        </p:nvSpPr>
        <p:spPr>
          <a:xfrm>
            <a:off x="457200" y="1444752"/>
            <a:ext cx="4023360" cy="2514600"/>
          </a:xfrm>
          <a:prstGeom prst="roundRect">
            <a:avLst>
              <a:gd name="adj" fmla="val 2182"/>
            </a:avLst>
          </a:prstGeom>
          <a:solidFill>
            <a:schemeClr val="tx2"/>
          </a:solidFill>
          <a:ln w="9525">
            <a:solidFill>
              <a:schemeClr val="tx2"/>
            </a:solidFill>
            <a:prstDash val="solid"/>
          </a:ln>
        </p:spPr>
      </p:sp>
      <p:sp>
        <p:nvSpPr>
          <p:cNvPr id="7" name="Text 5"/>
          <p:cNvSpPr txBox="1"/>
          <p:nvPr/>
        </p:nvSpPr>
        <p:spPr>
          <a:xfrm>
            <a:off x="594360" y="1536192"/>
            <a:ext cx="3749040" cy="2331720"/>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FedGDBD-repro/</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dataset/generate_Cifar10.py  Dir(0.1) split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system/main.py          + FedGDBD + args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system/flcore/clients/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 clientgdbd.py       NEW · 195 lines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 clientproto.py      FedProto</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 clientlg.py         LG-FedAvg</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system/flcore/servers/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 servergdbd.py       NEW · 102 lines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setup.bat · run_cifar10/100.bat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check_progress.bat · progress.py</a:t>
            </a:r>
            <a:endParaRPr lang="en-US" sz="1050" dirty="0"/>
          </a:p>
        </p:txBody>
      </p:sp>
      <p:sp>
        <p:nvSpPr>
          <p:cNvPr id="8" name="Text 6"/>
          <p:cNvSpPr txBox="1"/>
          <p:nvPr/>
        </p:nvSpPr>
        <p:spPr>
          <a:xfrm>
            <a:off x="4663440" y="1143000"/>
            <a:ext cx="4023360" cy="256032"/>
          </a:xfrm>
          <a:prstGeom prst="rect">
            <a:avLst/>
          </a:prstGeom>
          <a:noFill/>
          <a:ln/>
        </p:spPr>
        <p:txBody>
          <a:bodyPr wrap="square" lIns="0" tIns="0" rIns="0" bIns="0" rtlCol="0" anchor="t"/>
          <a:lstStyle/>
          <a:p>
            <a:pPr indent="0" marL="0">
              <a:buNone/>
            </a:pPr>
            <a:r>
              <a:rPr lang="en-US" sz="1200" b="1" dirty="0">
                <a:solidFill>
                  <a:schemeClr val="tx2"/>
                </a:solidFill>
              </a:rPr>
              <a:t>Server loop (servergdbd.py)</a:t>
            </a:r>
            <a:endParaRPr lang="en-US" sz="1200" dirty="0"/>
          </a:p>
        </p:txBody>
      </p:sp>
      <p:sp>
        <p:nvSpPr>
          <p:cNvPr id="9" name="Shape 7"/>
          <p:cNvSpPr/>
          <p:nvPr/>
        </p:nvSpPr>
        <p:spPr>
          <a:xfrm>
            <a:off x="4663440" y="1444752"/>
            <a:ext cx="4023360" cy="2514600"/>
          </a:xfrm>
          <a:prstGeom prst="roundRect">
            <a:avLst>
              <a:gd name="adj" fmla="val 2182"/>
            </a:avLst>
          </a:prstGeom>
          <a:solidFill>
            <a:schemeClr val="tx2"/>
          </a:solidFill>
          <a:ln w="9525">
            <a:solidFill>
              <a:schemeClr val="tx2"/>
            </a:solidFill>
            <a:prstDash val="solid"/>
          </a:ln>
        </p:spPr>
      </p:sp>
      <p:sp>
        <p:nvSpPr>
          <p:cNvPr id="10" name="Text 8"/>
          <p:cNvSpPr txBox="1"/>
          <p:nvPr/>
        </p:nvSpPr>
        <p:spPr>
          <a:xfrm>
            <a:off x="4800600" y="1536192"/>
            <a:ext cx="3749040" cy="2331720"/>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for c in clients: c.pretrain()</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init_global_learner()        # Eq. 5</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for r in range(R + 1):</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evaluate()       # + teacher pick</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for c in clients: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c.train()    # Eq. 11 + k-means++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train_global_learner()   # Eq. 12</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for c in clients: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c.update()   # Eq. 13</a:t>
            </a:r>
            <a:endParaRPr lang="en-US" sz="1050" dirty="0"/>
          </a:p>
        </p:txBody>
      </p:sp>
      <p:sp>
        <p:nvSpPr>
          <p:cNvPr id="11" name="Text 9"/>
          <p:cNvSpPr txBox="1"/>
          <p:nvPr/>
        </p:nvSpPr>
        <p:spPr>
          <a:xfrm>
            <a:off x="457200" y="4114800"/>
            <a:ext cx="4023360" cy="548640"/>
          </a:xfrm>
          <a:prstGeom prst="rect">
            <a:avLst/>
          </a:prstGeom>
          <a:noFill/>
          <a:ln/>
        </p:spPr>
        <p:txBody>
          <a:bodyPr wrap="square" lIns="0" tIns="0" rIns="0" bIns="0" rtlCol="0" anchor="t"/>
          <a:lstStyle/>
          <a:p>
            <a:pPr indent="0" marL="0">
              <a:buNone/>
            </a:pPr>
            <a:r>
              <a:rPr lang="en-US" sz="1050" b="1" dirty="0">
                <a:solidFill>
                  <a:schemeClr val="accent1"/>
                </a:solidFill>
              </a:rPr>
              <a:t>Base library: </a:t>
            </a:r>
            <a:pPr indent="0" marL="0">
              <a:buNone/>
            </a:pPr>
            <a:r>
              <a:rPr lang="en-US" sz="1050" dirty="0">
                <a:solidFill>
                  <a:schemeClr val="accent2"/>
                </a:solidFill>
              </a:rPr>
              <a:t>HtFLlib (KDD'25 benchmark): same models, Dirichlet split and baselines as the paper</a:t>
            </a:r>
            <a:endParaRPr lang="en-US" sz="1050" dirty="0"/>
          </a:p>
        </p:txBody>
      </p:sp>
      <p:sp>
        <p:nvSpPr>
          <p:cNvPr id="12" name="Text 10"/>
          <p:cNvSpPr txBox="1"/>
          <p:nvPr/>
        </p:nvSpPr>
        <p:spPr>
          <a:xfrm>
            <a:off x="4663440" y="4114800"/>
            <a:ext cx="4023360" cy="548640"/>
          </a:xfrm>
          <a:prstGeom prst="rect">
            <a:avLst/>
          </a:prstGeom>
          <a:noFill/>
          <a:ln/>
        </p:spPr>
        <p:txBody>
          <a:bodyPr wrap="square" lIns="0" tIns="0" rIns="0" bIns="0" rtlCol="0" anchor="t"/>
          <a:lstStyle/>
          <a:p>
            <a:pPr indent="0" marL="0">
              <a:buNone/>
            </a:pPr>
            <a:r>
              <a:rPr lang="en-US" sz="1050" b="1" dirty="0">
                <a:solidFill>
                  <a:schemeClr val="accent1"/>
                </a:solidFill>
              </a:rPr>
              <a:t>Our additions: </a:t>
            </a:r>
            <a:pPr indent="0" marL="0">
              <a:buNone/>
            </a:pPr>
            <a:r>
              <a:rPr lang="en-US" sz="1050" dirty="0">
                <a:solidFill>
                  <a:schemeClr val="accent2"/>
                </a:solidFill>
              </a:rPr>
              <a:t>Fed-GDBD client + server, CLI flags, PyTorch ≥ 2.6 load fix, Windows launch and progress scripts</a:t>
            </a:r>
            <a:endParaRPr lang="en-US" sz="105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nchor="ctr"/>
          <a:lstStyle/>
          <a:p>
            <a:pPr indent="0" marL="0">
              <a:buNone/>
            </a:pPr>
            <a:r>
              <a:rPr lang="en-US" sz="900" b="1" spc="100" kern="0" dirty="0">
                <a:solidFill>
                  <a:schemeClr val="accent1"/>
                </a:solidFill>
              </a:rPr>
              <a:t>IMPLEMENTATION · KEY CODE</a:t>
            </a:r>
            <a:endParaRPr lang="en-US" sz="9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Losses and Clustering in Code</a:t>
            </a:r>
            <a:endParaRPr lang="en-US" sz="2400" dirty="0"/>
          </a:p>
        </p:txBody>
      </p:sp>
      <p:sp>
        <p:nvSpPr>
          <p:cNvPr id="4" name="Text 0"/>
          <p:cNvSpPr/>
          <p:nvPr>
            <p:ph idx="102" type="body" hasCustomPrompt="1"/>
          </p:nvPr>
        </p:nvSpPr>
        <p:spPr>
          <a:xfrm>
            <a:off x="457200" y="4800600"/>
            <a:ext cx="5486400" cy="201168"/>
          </a:xfrm>
          <a:prstGeom prst="rect">
            <a:avLst/>
          </a:prstGeom>
          <a:noFill/>
          <a:ln/>
        </p:spPr>
        <p:txBody>
          <a:bodyPr wrap="square" lIns="0" tIns="0" rIns="0" bIns="0" rtlCol="0" anchor="ctr"/>
          <a:lstStyle/>
          <a:p>
            <a:pPr indent="0" marL="0">
              <a:buNone/>
            </a:pPr>
            <a:r>
              <a:rPr lang="en-US" sz="800" dirty="0">
                <a:solidFill>
                  <a:schemeClr val="accent5"/>
                </a:solidFill>
              </a:rPr>
              <a:t>IMPLEMENTATION</a:t>
            </a:r>
            <a:endParaRPr lang="en-US" sz="800" dirty="0"/>
          </a:p>
        </p:txBody>
      </p:sp>
      <p:sp>
        <p:nvSpPr>
          <p:cNvPr id="5" name="Text 3"/>
          <p:cNvSpPr txBox="1"/>
          <p:nvPr/>
        </p:nvSpPr>
        <p:spPr>
          <a:xfrm>
            <a:off x="457200" y="1115568"/>
            <a:ext cx="4937760" cy="237744"/>
          </a:xfrm>
          <a:prstGeom prst="rect">
            <a:avLst/>
          </a:prstGeom>
          <a:noFill/>
          <a:ln/>
        </p:spPr>
        <p:txBody>
          <a:bodyPr wrap="square" lIns="0" tIns="0" rIns="0" bIns="0" rtlCol="0" anchor="t"/>
          <a:lstStyle/>
          <a:p>
            <a:pPr indent="0" marL="0">
              <a:buNone/>
            </a:pPr>
            <a:r>
              <a:rPr lang="en-US" sz="1150" b="1" dirty="0">
                <a:solidFill>
                  <a:schemeClr val="tx2"/>
                </a:solidFill>
              </a:rPr>
              <a:t>Irrelevant-class KD  (clientgdbd.py)</a:t>
            </a:r>
            <a:endParaRPr lang="en-US" sz="1150" dirty="0"/>
          </a:p>
        </p:txBody>
      </p:sp>
      <p:sp>
        <p:nvSpPr>
          <p:cNvPr id="6" name="Shape 4"/>
          <p:cNvSpPr/>
          <p:nvPr/>
        </p:nvSpPr>
        <p:spPr>
          <a:xfrm>
            <a:off x="457200" y="1371600"/>
            <a:ext cx="4937760" cy="1143000"/>
          </a:xfrm>
          <a:prstGeom prst="roundRect">
            <a:avLst>
              <a:gd name="adj" fmla="val 4800"/>
            </a:avLst>
          </a:prstGeom>
          <a:solidFill>
            <a:schemeClr val="tx2"/>
          </a:solidFill>
          <a:ln w="9525">
            <a:solidFill>
              <a:schemeClr val="tx2"/>
            </a:solidFill>
            <a:prstDash val="solid"/>
          </a:ln>
        </p:spPr>
      </p:sp>
      <p:sp>
        <p:nvSpPr>
          <p:cNvPr id="7" name="Text 5"/>
          <p:cNvSpPr txBox="1"/>
          <p:nvPr/>
        </p:nvSpPr>
        <p:spPr>
          <a:xfrm>
            <a:off x="594360" y="1463040"/>
            <a:ext cx="4663440" cy="960120"/>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def ikd_loss(s, t, y):   # student / teacher logits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m = one_hot(y).bool()          # hide target class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s = s.masked_fill(m, -1e4) / 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t = t.masked_fill(m, -1e4) / 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return KL(softmax(t) ‖ softmax(s))</a:t>
            </a:r>
            <a:endParaRPr lang="en-US" sz="950" dirty="0"/>
          </a:p>
        </p:txBody>
      </p:sp>
      <p:sp>
        <p:nvSpPr>
          <p:cNvPr id="8" name="Text 6"/>
          <p:cNvSpPr txBox="1"/>
          <p:nvPr/>
        </p:nvSpPr>
        <p:spPr>
          <a:xfrm>
            <a:off x="457200" y="2670048"/>
            <a:ext cx="4937760" cy="237744"/>
          </a:xfrm>
          <a:prstGeom prst="rect">
            <a:avLst/>
          </a:prstGeom>
          <a:noFill/>
          <a:ln/>
        </p:spPr>
        <p:txBody>
          <a:bodyPr wrap="square" lIns="0" tIns="0" rIns="0" bIns="0" rtlCol="0" anchor="t"/>
          <a:lstStyle/>
          <a:p>
            <a:pPr indent="0" marL="0">
              <a:buNone/>
            </a:pPr>
            <a:r>
              <a:rPr lang="en-US" sz="1150" b="1" dirty="0">
                <a:solidFill>
                  <a:schemeClr val="tx2"/>
                </a:solidFill>
              </a:rPr>
              <a:t>Boundary distillation step  (update)</a:t>
            </a:r>
            <a:endParaRPr lang="en-US" sz="1150" dirty="0"/>
          </a:p>
        </p:txBody>
      </p:sp>
      <p:sp>
        <p:nvSpPr>
          <p:cNvPr id="9" name="Shape 7"/>
          <p:cNvSpPr/>
          <p:nvPr/>
        </p:nvSpPr>
        <p:spPr>
          <a:xfrm>
            <a:off x="457200" y="2926080"/>
            <a:ext cx="4937760" cy="960120"/>
          </a:xfrm>
          <a:prstGeom prst="roundRect">
            <a:avLst>
              <a:gd name="adj" fmla="val 5714"/>
            </a:avLst>
          </a:prstGeom>
          <a:solidFill>
            <a:schemeClr val="tx2"/>
          </a:solidFill>
          <a:ln w="9525">
            <a:solidFill>
              <a:schemeClr val="tx2"/>
            </a:solidFill>
            <a:prstDash val="solid"/>
          </a:ln>
        </p:spPr>
      </p:sp>
      <p:sp>
        <p:nvSpPr>
          <p:cNvPr id="10" name="Text 8"/>
          <p:cNvSpPr txBox="1"/>
          <p:nvPr/>
        </p:nvSpPr>
        <p:spPr>
          <a:xfrm>
            <a:off x="594360" y="3017520"/>
            <a:ext cx="4663440" cy="777240"/>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rep = model.base(x);  out = model.head(rep)</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with no_grad(): g_out = g(rep)   # global teacher</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loss = (1-α)*CE(out, y) + α*T²*KL(g_out ‖ out)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loss.backward(); optimizer.step()</a:t>
            </a:r>
            <a:endParaRPr lang="en-US" sz="950" dirty="0"/>
          </a:p>
        </p:txBody>
      </p:sp>
      <p:sp>
        <p:nvSpPr>
          <p:cNvPr id="11" name="Text 9"/>
          <p:cNvSpPr txBox="1"/>
          <p:nvPr/>
        </p:nvSpPr>
        <p:spPr>
          <a:xfrm>
            <a:off x="5623560" y="1115568"/>
            <a:ext cx="3063240" cy="237744"/>
          </a:xfrm>
          <a:prstGeom prst="rect">
            <a:avLst/>
          </a:prstGeom>
          <a:noFill/>
          <a:ln/>
        </p:spPr>
        <p:txBody>
          <a:bodyPr wrap="square" lIns="0" tIns="0" rIns="0" bIns="0" rtlCol="0" anchor="t"/>
          <a:lstStyle/>
          <a:p>
            <a:pPr indent="0" marL="0">
              <a:buNone/>
            </a:pPr>
            <a:r>
              <a:rPr lang="en-US" sz="1150" b="1" dirty="0">
                <a:solidFill>
                  <a:schemeClr val="tx2"/>
                </a:solidFill>
              </a:rPr>
              <a:t>k-means++ prototypes</a:t>
            </a:r>
            <a:endParaRPr lang="en-US" sz="1150" dirty="0"/>
          </a:p>
        </p:txBody>
      </p:sp>
      <p:sp>
        <p:nvSpPr>
          <p:cNvPr id="12" name="Shape 10"/>
          <p:cNvSpPr/>
          <p:nvPr/>
        </p:nvSpPr>
        <p:spPr>
          <a:xfrm>
            <a:off x="5623560" y="1371600"/>
            <a:ext cx="3063240" cy="2514600"/>
          </a:xfrm>
          <a:prstGeom prst="roundRect">
            <a:avLst>
              <a:gd name="adj" fmla="val 2182"/>
            </a:avLst>
          </a:prstGeom>
          <a:solidFill>
            <a:schemeClr val="tx2"/>
          </a:solidFill>
          <a:ln w="9525">
            <a:solidFill>
              <a:schemeClr val="tx2"/>
            </a:solidFill>
            <a:prstDash val="solid"/>
          </a:ln>
        </p:spPr>
      </p:sp>
      <p:sp>
        <p:nvSpPr>
          <p:cNvPr id="13" name="Text 11"/>
          <p:cNvSpPr txBox="1"/>
          <p:nvPr/>
        </p:nvSpPr>
        <p:spPr>
          <a:xfrm>
            <a:off x="5760720" y="1463040"/>
            <a:ext cx="2788920" cy="2331720"/>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C = seed_kmeanspp(z, v)</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 P(z) ∝ d(z)²</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for _ in range(100):</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 = cdist(z,C).argmin(1)</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oh = one_hot(a)</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C' = ohᵀz / oh.sum(0)</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if C' == C: break</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C = C'</a:t>
            </a:r>
            <a:endParaRPr lang="en-US" sz="950" dirty="0"/>
          </a:p>
        </p:txBody>
      </p:sp>
      <p:sp>
        <p:nvSpPr>
          <p:cNvPr id="14" name="Text 12"/>
          <p:cNvSpPr txBox="1"/>
          <p:nvPr/>
        </p:nvSpPr>
        <p:spPr>
          <a:xfrm>
            <a:off x="457200" y="4023360"/>
            <a:ext cx="8229600" cy="68580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accent2"/>
                </a:solidFill>
              </a:rPr>
              <a:t>Teacher logits come from the best past local model (picked by test accuracy at each evaluation)</a:t>
            </a:r>
            <a:endParaRPr lang="en-US" sz="1050" dirty="0"/>
          </a:p>
          <a:p>
            <a:pPr marL="342900" indent="-342900">
              <a:spcAft>
                <a:spcPts val="200"/>
              </a:spcAft>
              <a:buSzPct val="100000"/>
              <a:buChar char="•"/>
            </a:pPr>
            <a:r>
              <a:rPr lang="en-US" sz="1050" dirty="0">
                <a:solidFill>
                  <a:schemeClr val="accent2"/>
                </a:solidFill>
              </a:rPr>
              <a:t>g is frozen during distillation; gradients reach only the local extractor and head</a:t>
            </a:r>
            <a:endParaRPr lang="en-US" sz="1050" dirty="0"/>
          </a:p>
          <a:p>
            <a:pPr marL="342900" indent="-342900">
              <a:spcAft>
                <a:spcPts val="200"/>
              </a:spcAft>
              <a:buSzPct val="100000"/>
              <a:buChar char="•"/>
            </a:pPr>
            <a:r>
              <a:rPr lang="en-US" sz="1050" dirty="0">
                <a:solidFill>
                  <a:schemeClr val="accent2"/>
                </a:solidFill>
              </a:rPr>
              <a:t>Bug found and fixed: masking the target AFTER the softmax pushed the correct logit down and made CIFAR-100 diverge (NaN at round 8)</a:t>
            </a:r>
            <a:endParaRPr lang="en-US" sz="105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nchor="ctr"/>
          <a:lstStyle/>
          <a:p>
            <a:pPr indent="0" marL="0">
              <a:buNone/>
            </a:pPr>
            <a:r>
              <a:rPr lang="en-US" sz="900" b="1" spc="100" kern="0" dirty="0">
                <a:solidFill>
                  <a:schemeClr val="accent1"/>
                </a:solidFill>
              </a:rPr>
              <a:t>IMPLEMENTATION · EXPERIMENTAL SETUP</a:t>
            </a:r>
            <a:endParaRPr lang="en-US" sz="9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Reproduction Scope: Paper vs Ours</a:t>
            </a:r>
            <a:endParaRPr lang="en-US" sz="2400" dirty="0"/>
          </a:p>
        </p:txBody>
      </p:sp>
      <p:sp>
        <p:nvSpPr>
          <p:cNvPr id="4" name="Text 0"/>
          <p:cNvSpPr/>
          <p:nvPr>
            <p:ph idx="102" type="body" hasCustomPrompt="1"/>
          </p:nvPr>
        </p:nvSpPr>
        <p:spPr>
          <a:xfrm>
            <a:off x="457200" y="4800600"/>
            <a:ext cx="5486400" cy="201168"/>
          </a:xfrm>
          <a:prstGeom prst="rect">
            <a:avLst/>
          </a:prstGeom>
          <a:noFill/>
          <a:ln/>
        </p:spPr>
        <p:txBody>
          <a:bodyPr wrap="square" lIns="0" tIns="0" rIns="0" bIns="0" rtlCol="0" anchor="ctr"/>
          <a:lstStyle/>
          <a:p>
            <a:pPr indent="0" marL="0">
              <a:buNone/>
            </a:pPr>
            <a:r>
              <a:rPr lang="en-US" sz="800" dirty="0">
                <a:solidFill>
                  <a:schemeClr val="accent5"/>
                </a:solidFill>
              </a:rPr>
              <a:t>IMPLEMENTATION</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737360"/>
                <a:gridCol w="3154680"/>
                <a:gridCol w="333756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Aspect</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1E2A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Paper</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1E2A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Our reproduction</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1E2A4A"/>
                    </a:solidFill>
                  </a:tcPr>
                </a:tc>
              </a:tr>
              <a:tr h="329184">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Methods compared</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5: Fed-GDBD, FedProto, FedTGP, LG-FedAvg, FedGH</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3: Fed-GDBD, FedProto, LG-FedAvg  (+ our FedGDBD-S)</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r>
              <a:tr h="329184">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Datasets</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4: CIFAR-10, CIFAR-100, Tiny-ImageNet, Flowers102</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2: CIFAR-10, CIFAR-100</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r>
              <a:tr h="329184">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Heterogeneity settings</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Practical Dir(0.1) + pathological</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Practical Dir(0.1) only</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r>
              <a:tr h="329184">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Variants / ablations</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Main + ablations, v/T/α sweeps, 8-model test</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Main variant only</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r>
              <a:tr h="329184">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Global rounds × repeats</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100 rounds × 3 runs</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50 rounds × 1 run (faithful Fed-GDBD stopped at round 9–10)</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r>
              <a:tr h="329184">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Hardware</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1 × RTX 3080 server, 128 GB RAM</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RTX 3050 6 GB (CIFAR-10) + RTX 5060 8 GB (CIFAR-100) laptops, 3 runs in parallel per GPU</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r>
              <a:tr h="329184">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Kept identical</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20 clients · 4 models · batch 10 · lr 0.01 · E = 5 · v = 5 · α = 0.7 · T = 20</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indent="0" marL="0">
                        <a:buNone/>
                      </a:pPr>
                      <a:r>
                        <a:rPr lang="en-US" sz="1050" dirty="0">
                          <a:solidFill>
                            <a:srgbClr val="22262E"/>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73152" marR="73152" marT="36576" marB="36576"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r>
            </a:tbl>
          </a:graphicData>
        </a:graphic>
      </p:graphicFrame>
      <p:sp>
        <p:nvSpPr>
          <p:cNvPr id="6" name="Shape 3"/>
          <p:cNvSpPr/>
          <p:nvPr/>
        </p:nvSpPr>
        <p:spPr>
          <a:xfrm>
            <a:off x="457200" y="4114800"/>
            <a:ext cx="8229600" cy="548640"/>
          </a:xfrm>
          <a:prstGeom prst="roundRect">
            <a:avLst>
              <a:gd name="adj" fmla="val 10000"/>
            </a:avLst>
          </a:prstGeom>
          <a:solidFill>
            <a:schemeClr val="accent3"/>
          </a:solidFill>
          <a:ln w="9525">
            <a:solidFill>
              <a:schemeClr val="accent3"/>
            </a:solidFill>
            <a:prstDash val="solid"/>
          </a:ln>
        </p:spPr>
      </p:sp>
      <p:sp>
        <p:nvSpPr>
          <p:cNvPr id="7" name="Text 4"/>
          <p:cNvSpPr txBox="1"/>
          <p:nvPr/>
        </p:nvSpPr>
        <p:spPr>
          <a:xfrm>
            <a:off x="640080" y="4114800"/>
            <a:ext cx="7863840" cy="548640"/>
          </a:xfrm>
          <a:prstGeom prst="rect">
            <a:avLst/>
          </a:prstGeom>
          <a:noFill/>
          <a:ln/>
        </p:spPr>
        <p:txBody>
          <a:bodyPr wrap="square" lIns="0" tIns="0" rIns="0" bIns="0" rtlCol="0" anchor="ctr"/>
          <a:lstStyle/>
          <a:p>
            <a:pPr indent="0" marL="0">
              <a:buNone/>
            </a:pPr>
            <a:r>
              <a:rPr lang="en-US" sz="1100" b="1" dirty="0">
                <a:solidFill>
                  <a:schemeClr val="tx2"/>
                </a:solidFill>
              </a:rPr>
              <a:t>Why reduced: </a:t>
            </a:r>
            <a:pPr indent="0" marL="0">
              <a:buNone/>
            </a:pPr>
            <a:r>
              <a:rPr lang="en-US" sz="1100" dirty="0">
                <a:solidFill>
                  <a:schemeClr val="tx1"/>
                </a:solidFill>
              </a:rPr>
              <a:t>the full paper is ≈ 1,500+ GPU-hours; our budget was ≈ 15 hours on two laptops. We kept the paper's headline experiment (Table 1, practical setting) and every hyperparameter.</a:t>
            </a:r>
            <a:endParaRPr lang="en-US" sz="110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nchor="ctr"/>
          <a:lstStyle/>
          <a:p>
            <a:pPr indent="0" marL="0">
              <a:buNone/>
            </a:pPr>
            <a:r>
              <a:rPr lang="en-US" sz="900" b="1" spc="100" kern="0" dirty="0">
                <a:solidFill>
                  <a:schemeClr val="accent1"/>
                </a:solidFill>
              </a:rPr>
              <a:t>RESULTS ANALYSIS · ACCURACY</a:t>
            </a:r>
            <a:endParaRPr lang="en-US" sz="9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Test Accuracy: Ours vs Paper (Practical, β = 0.1)</a:t>
            </a:r>
            <a:endParaRPr lang="en-US" sz="2400" dirty="0"/>
          </a:p>
        </p:txBody>
      </p:sp>
      <p:sp>
        <p:nvSpPr>
          <p:cNvPr id="4" name="Text 0"/>
          <p:cNvSpPr/>
          <p:nvPr>
            <p:ph idx="102" type="body" hasCustomPrompt="1"/>
          </p:nvPr>
        </p:nvSpPr>
        <p:spPr>
          <a:xfrm>
            <a:off x="457200" y="4800600"/>
            <a:ext cx="5486400" cy="201168"/>
          </a:xfrm>
          <a:prstGeom prst="rect">
            <a:avLst/>
          </a:prstGeom>
          <a:noFill/>
          <a:ln/>
        </p:spPr>
        <p:txBody>
          <a:bodyPr wrap="square" lIns="0" tIns="0" rIns="0" bIns="0" rtlCol="0" anchor="ctr"/>
          <a:lstStyle/>
          <a:p>
            <a:pPr indent="0" marL="0">
              <a:buNone/>
            </a:pPr>
            <a:r>
              <a:rPr lang="en-US" sz="800" dirty="0">
                <a:solidFill>
                  <a:schemeClr val="accent5"/>
                </a:solidFill>
              </a:rPr>
              <a:t>RESULTS ANALYSIS</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8229600" cy="914400"/>
        </p:xfrm>
        <a:graphic>
          <a:graphicData uri="http://schemas.openxmlformats.org/drawingml/2006/table">
            <a:tbl>
              <a:tblPr/>
              <a:tblGrid>
                <a:gridCol w="1920240"/>
                <a:gridCol w="1051560"/>
                <a:gridCol w="1051560"/>
                <a:gridCol w="1051560"/>
                <a:gridCol w="1051560"/>
                <a:gridCol w="1051560"/>
                <a:gridCol w="1051560"/>
              </a:tblGrid>
              <a:tr h="310896">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1E2A4A"/>
                    </a:solidFill>
                  </a:tcPr>
                </a:tc>
                <a:tc gridSpan="3">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CIFAR-10</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1E2A4A"/>
                    </a:solidFill>
                  </a:tcPr>
                </a:tc>
                <a:tc hMerge="1">
                  <a:tcPr/>
                </a:tc>
                <a:tc hMerge="1">
                  <a:tcPr/>
                </a:tc>
                <a:tc gridSpan="3">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CIFAR-100</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1E2A4A"/>
                    </a:solidFill>
                  </a:tcPr>
                </a:tc>
                <a:tc hMerge="1">
                  <a:tcPr/>
                </a:tc>
                <a:tc hMerge="1">
                  <a:tcPr/>
                </a:tc>
              </a:tr>
              <a:tr h="310896">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E7EAF3"/>
                    </a:solidFill>
                  </a:tcPr>
                </a:tc>
                <a:tc>
                  <a:txBody>
                    <a:bodyPr/>
                    <a:lstStyle/>
                    <a:p>
                      <a:pPr algn="ctr" indent="0" marL="0">
                        <a:buNone/>
                      </a:pPr>
                      <a:r>
                        <a:rPr lang="en-US" sz="1150" b="1" dirty="0">
                          <a:solidFill>
                            <a:srgbClr val="1E2A4A"/>
                          </a:solidFill>
                          <a:latin typeface="Calibri" pitchFamily="34" charset="0"/>
                          <a:ea typeface="Calibri" pitchFamily="34" charset="-122"/>
                          <a:cs typeface="Calibri" pitchFamily="34" charset="-120"/>
                        </a:rPr>
                        <a:t>Ours</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E7EAF3"/>
                    </a:solidFill>
                  </a:tcPr>
                </a:tc>
                <a:tc>
                  <a:txBody>
                    <a:bodyPr/>
                    <a:lstStyle/>
                    <a:p>
                      <a:pPr algn="ctr" indent="0" marL="0">
                        <a:buNone/>
                      </a:pPr>
                      <a:r>
                        <a:rPr lang="en-US" sz="1150" b="1" dirty="0">
                          <a:solidFill>
                            <a:srgbClr val="1E2A4A"/>
                          </a:solidFill>
                          <a:latin typeface="Calibri" pitchFamily="34" charset="0"/>
                          <a:ea typeface="Calibri" pitchFamily="34" charset="-122"/>
                          <a:cs typeface="Calibri" pitchFamily="34" charset="-120"/>
                        </a:rPr>
                        <a:t>Paper</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E7EAF3"/>
                    </a:solidFill>
                  </a:tcPr>
                </a:tc>
                <a:tc>
                  <a:txBody>
                    <a:bodyPr/>
                    <a:lstStyle/>
                    <a:p>
                      <a:pPr algn="ctr" indent="0" marL="0">
                        <a:buNone/>
                      </a:pPr>
                      <a:r>
                        <a:rPr lang="en-US" sz="1150" b="1" dirty="0">
                          <a:solidFill>
                            <a:srgbClr val="1E2A4A"/>
                          </a:solidFill>
                          <a:latin typeface="Calibri" pitchFamily="34" charset="0"/>
                          <a:ea typeface="Calibri" pitchFamily="34" charset="-122"/>
                          <a:cs typeface="Calibri" pitchFamily="34" charset="-120"/>
                        </a:rPr>
                        <a:t>Δ</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E7EAF3"/>
                    </a:solidFill>
                  </a:tcPr>
                </a:tc>
                <a:tc>
                  <a:txBody>
                    <a:bodyPr/>
                    <a:lstStyle/>
                    <a:p>
                      <a:pPr algn="ctr" indent="0" marL="0">
                        <a:buNone/>
                      </a:pPr>
                      <a:r>
                        <a:rPr lang="en-US" sz="1150" b="1" dirty="0">
                          <a:solidFill>
                            <a:srgbClr val="1E2A4A"/>
                          </a:solidFill>
                          <a:latin typeface="Calibri" pitchFamily="34" charset="0"/>
                          <a:ea typeface="Calibri" pitchFamily="34" charset="-122"/>
                          <a:cs typeface="Calibri" pitchFamily="34" charset="-120"/>
                        </a:rPr>
                        <a:t>Ours</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E7EAF3"/>
                    </a:solidFill>
                  </a:tcPr>
                </a:tc>
                <a:tc>
                  <a:txBody>
                    <a:bodyPr/>
                    <a:lstStyle/>
                    <a:p>
                      <a:pPr algn="ctr" indent="0" marL="0">
                        <a:buNone/>
                      </a:pPr>
                      <a:r>
                        <a:rPr lang="en-US" sz="1150" b="1" dirty="0">
                          <a:solidFill>
                            <a:srgbClr val="1E2A4A"/>
                          </a:solidFill>
                          <a:latin typeface="Calibri" pitchFamily="34" charset="0"/>
                          <a:ea typeface="Calibri" pitchFamily="34" charset="-122"/>
                          <a:cs typeface="Calibri" pitchFamily="34" charset="-120"/>
                        </a:rPr>
                        <a:t>Paper</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E7EAF3"/>
                    </a:solidFill>
                  </a:tcPr>
                </a:tc>
                <a:tc>
                  <a:txBody>
                    <a:bodyPr/>
                    <a:lstStyle/>
                    <a:p>
                      <a:pPr algn="ctr" indent="0" marL="0">
                        <a:buNone/>
                      </a:pPr>
                      <a:r>
                        <a:rPr lang="en-US" sz="1150" b="1" dirty="0">
                          <a:solidFill>
                            <a:srgbClr val="1E2A4A"/>
                          </a:solidFill>
                          <a:latin typeface="Calibri" pitchFamily="34" charset="0"/>
                          <a:ea typeface="Calibri" pitchFamily="34" charset="-122"/>
                          <a:cs typeface="Calibri" pitchFamily="34" charset="-120"/>
                        </a:rPr>
                        <a:t>Δ</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E7EAF3"/>
                    </a:solidFill>
                  </a:tcPr>
                </a:tc>
              </a:tr>
              <a:tr h="310896">
                <a:tc>
                  <a:txBody>
                    <a:bodyPr/>
                    <a:lstStyle/>
                    <a:p>
                      <a:pPr algn="l" indent="0" marL="0">
                        <a:buNone/>
                      </a:pPr>
                      <a:r>
                        <a:rPr lang="en-US" sz="1150" b="1" dirty="0">
                          <a:solidFill>
                            <a:srgbClr val="22262E"/>
                          </a:solidFill>
                          <a:latin typeface="Calibri" pitchFamily="34" charset="0"/>
                          <a:ea typeface="Calibri" pitchFamily="34" charset="-122"/>
                          <a:cs typeface="Calibri" pitchFamily="34" charset="-120"/>
                        </a:rPr>
                        <a:t>FedProto</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22262E"/>
                          </a:solidFill>
                          <a:latin typeface="Calibri" pitchFamily="34" charset="0"/>
                          <a:ea typeface="Calibri" pitchFamily="34" charset="-122"/>
                          <a:cs typeface="Calibri" pitchFamily="34" charset="-120"/>
                        </a:rPr>
                        <a:t>82.52</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5B6478"/>
                          </a:solidFill>
                          <a:latin typeface="Calibri" pitchFamily="34" charset="0"/>
                          <a:ea typeface="Calibri" pitchFamily="34" charset="-122"/>
                          <a:cs typeface="Calibri" pitchFamily="34" charset="-120"/>
                        </a:rPr>
                        <a:t>82.75</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b="1" dirty="0">
                          <a:solidFill>
                            <a:srgbClr val="5B6478"/>
                          </a:solidFill>
                          <a:latin typeface="Calibri" pitchFamily="34" charset="0"/>
                          <a:ea typeface="Calibri" pitchFamily="34" charset="-122"/>
                          <a:cs typeface="Calibri" pitchFamily="34" charset="-120"/>
                        </a:rPr>
                        <a:t>−0.23</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22262E"/>
                          </a:solidFill>
                          <a:latin typeface="Calibri" pitchFamily="34" charset="0"/>
                          <a:ea typeface="Calibri" pitchFamily="34" charset="-122"/>
                          <a:cs typeface="Calibri" pitchFamily="34" charset="-120"/>
                        </a:rPr>
                        <a:t>39.51</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5B6478"/>
                          </a:solidFill>
                          <a:latin typeface="Calibri" pitchFamily="34" charset="0"/>
                          <a:ea typeface="Calibri" pitchFamily="34" charset="-122"/>
                          <a:cs typeface="Calibri" pitchFamily="34" charset="-120"/>
                        </a:rPr>
                        <a:t>35.38</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b="1" dirty="0">
                          <a:solidFill>
                            <a:srgbClr val="1C7293"/>
                          </a:solidFill>
                          <a:latin typeface="Calibri" pitchFamily="34" charset="0"/>
                          <a:ea typeface="Calibri" pitchFamily="34" charset="-122"/>
                          <a:cs typeface="Calibri" pitchFamily="34" charset="-120"/>
                        </a:rPr>
                        <a:t>+4.13</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r>
              <a:tr h="310896">
                <a:tc>
                  <a:txBody>
                    <a:bodyPr/>
                    <a:lstStyle/>
                    <a:p>
                      <a:pPr algn="l" indent="0" marL="0">
                        <a:buNone/>
                      </a:pPr>
                      <a:r>
                        <a:rPr lang="en-US" sz="1150" b="1" dirty="0">
                          <a:solidFill>
                            <a:srgbClr val="22262E"/>
                          </a:solidFill>
                          <a:latin typeface="Calibri" pitchFamily="34" charset="0"/>
                          <a:ea typeface="Calibri" pitchFamily="34" charset="-122"/>
                          <a:cs typeface="Calibri" pitchFamily="34" charset="-120"/>
                        </a:rPr>
                        <a:t>LG-FedAvg</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22262E"/>
                          </a:solidFill>
                          <a:latin typeface="Calibri" pitchFamily="34" charset="0"/>
                          <a:ea typeface="Calibri" pitchFamily="34" charset="-122"/>
                          <a:cs typeface="Calibri" pitchFamily="34" charset="-120"/>
                        </a:rPr>
                        <a:t>86.36</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5B6478"/>
                          </a:solidFill>
                          <a:latin typeface="Calibri" pitchFamily="34" charset="0"/>
                          <a:ea typeface="Calibri" pitchFamily="34" charset="-122"/>
                          <a:cs typeface="Calibri" pitchFamily="34" charset="-120"/>
                        </a:rPr>
                        <a:t>86.64</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b="1" dirty="0">
                          <a:solidFill>
                            <a:srgbClr val="5B6478"/>
                          </a:solidFill>
                          <a:latin typeface="Calibri" pitchFamily="34" charset="0"/>
                          <a:ea typeface="Calibri" pitchFamily="34" charset="-122"/>
                          <a:cs typeface="Calibri" pitchFamily="34" charset="-120"/>
                        </a:rPr>
                        <a:t>−0.28</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22262E"/>
                          </a:solidFill>
                          <a:latin typeface="Calibri" pitchFamily="34" charset="0"/>
                          <a:ea typeface="Calibri" pitchFamily="34" charset="-122"/>
                          <a:cs typeface="Calibri" pitchFamily="34" charset="-120"/>
                        </a:rPr>
                        <a:t>42.79</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5B6478"/>
                          </a:solidFill>
                          <a:latin typeface="Calibri" pitchFamily="34" charset="0"/>
                          <a:ea typeface="Calibri" pitchFamily="34" charset="-122"/>
                          <a:cs typeface="Calibri" pitchFamily="34" charset="-120"/>
                        </a:rPr>
                        <a:t>43.30</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b="1" dirty="0">
                          <a:solidFill>
                            <a:srgbClr val="5B6478"/>
                          </a:solidFill>
                          <a:latin typeface="Calibri" pitchFamily="34" charset="0"/>
                          <a:ea typeface="Calibri" pitchFamily="34" charset="-122"/>
                          <a:cs typeface="Calibri" pitchFamily="34" charset="-120"/>
                        </a:rPr>
                        <a:t>−0.51</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r>
              <a:tr h="310896">
                <a:tc>
                  <a:txBody>
                    <a:bodyPr/>
                    <a:lstStyle/>
                    <a:p>
                      <a:pPr algn="l" indent="0" marL="0">
                        <a:buNone/>
                      </a:pPr>
                      <a:r>
                        <a:rPr lang="en-US" sz="1150" b="1" dirty="0">
                          <a:solidFill>
                            <a:srgbClr val="22262E"/>
                          </a:solidFill>
                          <a:latin typeface="Calibri" pitchFamily="34" charset="0"/>
                          <a:ea typeface="Calibri" pitchFamily="34" charset="-122"/>
                          <a:cs typeface="Calibri" pitchFamily="34" charset="-120"/>
                        </a:rPr>
                        <a:t>Fed-GDBD, faithful *</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22262E"/>
                          </a:solidFill>
                          <a:latin typeface="Calibri" pitchFamily="34" charset="0"/>
                          <a:ea typeface="Calibri" pitchFamily="34" charset="-122"/>
                          <a:cs typeface="Calibri" pitchFamily="34" charset="-120"/>
                        </a:rPr>
                        <a:t>85.70</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5B6478"/>
                          </a:solidFill>
                          <a:latin typeface="Calibri" pitchFamily="34" charset="0"/>
                          <a:ea typeface="Calibri" pitchFamily="34" charset="-122"/>
                          <a:cs typeface="Calibri" pitchFamily="34" charset="-120"/>
                        </a:rPr>
                        <a:t>87.90</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b="1" dirty="0">
                          <a:solidFill>
                            <a:srgbClr val="5B6478"/>
                          </a:solidFill>
                          <a:latin typeface="Calibri" pitchFamily="34" charset="0"/>
                          <a:ea typeface="Calibri" pitchFamily="34" charset="-122"/>
                          <a:cs typeface="Calibri" pitchFamily="34" charset="-120"/>
                        </a:rPr>
                        <a:t>−2.20</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22262E"/>
                          </a:solidFill>
                          <a:latin typeface="Calibri" pitchFamily="34" charset="0"/>
                          <a:ea typeface="Calibri" pitchFamily="34" charset="-122"/>
                          <a:cs typeface="Calibri" pitchFamily="34" charset="-120"/>
                        </a:rPr>
                        <a:t>40.70</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dirty="0">
                          <a:solidFill>
                            <a:srgbClr val="5B6478"/>
                          </a:solidFill>
                          <a:latin typeface="Calibri" pitchFamily="34" charset="0"/>
                          <a:ea typeface="Calibri" pitchFamily="34" charset="-122"/>
                          <a:cs typeface="Calibri" pitchFamily="34" charset="-120"/>
                        </a:rPr>
                        <a:t>45.09</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c>
                  <a:txBody>
                    <a:bodyPr/>
                    <a:lstStyle/>
                    <a:p>
                      <a:pPr algn="ctr" indent="0" marL="0">
                        <a:buNone/>
                      </a:pPr>
                      <a:r>
                        <a:rPr lang="en-US" sz="1150" b="1" dirty="0">
                          <a:solidFill>
                            <a:srgbClr val="5B6478"/>
                          </a:solidFill>
                          <a:latin typeface="Calibri" pitchFamily="34" charset="0"/>
                          <a:ea typeface="Calibri" pitchFamily="34" charset="-122"/>
                          <a:cs typeface="Calibri" pitchFamily="34" charset="-120"/>
                        </a:rPr>
                        <a:t>−4.39</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tcPr>
                </a:tc>
              </a:tr>
              <a:tr h="31089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FedGDBD-S (ours)</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1C7293"/>
                    </a:solidFill>
                  </a:tcPr>
                </a:tc>
                <a:tc>
                  <a:txBody>
                    <a:bodyPr/>
                    <a:lstStyle/>
                    <a:p>
                      <a:pPr algn="ctr" indent="0" marL="0">
                        <a:buNone/>
                      </a:pPr>
                      <a:r>
                        <a:rPr lang="en-US" sz="1150" b="1" dirty="0">
                          <a:solidFill>
                            <a:srgbClr val="22262E"/>
                          </a:solidFill>
                          <a:latin typeface="Calibri" pitchFamily="34" charset="0"/>
                          <a:ea typeface="Calibri" pitchFamily="34" charset="-122"/>
                          <a:cs typeface="Calibri" pitchFamily="34" charset="-120"/>
                        </a:rPr>
                        <a:t>87.10</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DFEDF0"/>
                    </a:solidFill>
                  </a:tcPr>
                </a:tc>
                <a:tc>
                  <a:txBody>
                    <a:bodyPr/>
                    <a:lstStyle/>
                    <a:p>
                      <a:pPr algn="ctr" indent="0" marL="0">
                        <a:buNone/>
                      </a:pPr>
                      <a:r>
                        <a:rPr lang="en-US" sz="1150" dirty="0">
                          <a:solidFill>
                            <a:srgbClr val="5B6478"/>
                          </a:solidFill>
                          <a:latin typeface="Calibri" pitchFamily="34" charset="0"/>
                          <a:ea typeface="Calibri" pitchFamily="34" charset="-122"/>
                          <a:cs typeface="Calibri" pitchFamily="34" charset="-120"/>
                        </a:rPr>
                        <a:t>87.90</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DFEDF0"/>
                    </a:solidFill>
                  </a:tcPr>
                </a:tc>
                <a:tc>
                  <a:txBody>
                    <a:bodyPr/>
                    <a:lstStyle/>
                    <a:p>
                      <a:pPr algn="ctr" indent="0" marL="0">
                        <a:buNone/>
                      </a:pPr>
                      <a:r>
                        <a:rPr lang="en-US" sz="1150" b="1" dirty="0">
                          <a:solidFill>
                            <a:srgbClr val="5B6478"/>
                          </a:solidFill>
                          <a:latin typeface="Calibri" pitchFamily="34" charset="0"/>
                          <a:ea typeface="Calibri" pitchFamily="34" charset="-122"/>
                          <a:cs typeface="Calibri" pitchFamily="34" charset="-120"/>
                        </a:rPr>
                        <a:t>−0.80</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DFEDF0"/>
                    </a:solidFill>
                  </a:tcPr>
                </a:tc>
                <a:tc>
                  <a:txBody>
                    <a:bodyPr/>
                    <a:lstStyle/>
                    <a:p>
                      <a:pPr algn="ctr" indent="0" marL="0">
                        <a:buNone/>
                      </a:pPr>
                      <a:r>
                        <a:rPr lang="en-US" sz="1150" b="1" dirty="0">
                          <a:solidFill>
                            <a:srgbClr val="22262E"/>
                          </a:solidFill>
                          <a:latin typeface="Calibri" pitchFamily="34" charset="0"/>
                          <a:ea typeface="Calibri" pitchFamily="34" charset="-122"/>
                          <a:cs typeface="Calibri" pitchFamily="34" charset="-120"/>
                        </a:rPr>
                        <a:t>43.74</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DFEDF0"/>
                    </a:solidFill>
                  </a:tcPr>
                </a:tc>
                <a:tc>
                  <a:txBody>
                    <a:bodyPr/>
                    <a:lstStyle/>
                    <a:p>
                      <a:pPr algn="ctr" indent="0" marL="0">
                        <a:buNone/>
                      </a:pPr>
                      <a:r>
                        <a:rPr lang="en-US" sz="1150" dirty="0">
                          <a:solidFill>
                            <a:srgbClr val="5B6478"/>
                          </a:solidFill>
                          <a:latin typeface="Calibri" pitchFamily="34" charset="0"/>
                          <a:ea typeface="Calibri" pitchFamily="34" charset="-122"/>
                          <a:cs typeface="Calibri" pitchFamily="34" charset="-120"/>
                        </a:rPr>
                        <a:t>45.09</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DFEDF0"/>
                    </a:solidFill>
                  </a:tcPr>
                </a:tc>
                <a:tc>
                  <a:txBody>
                    <a:bodyPr/>
                    <a:lstStyle/>
                    <a:p>
                      <a:pPr algn="ctr" indent="0" marL="0">
                        <a:buNone/>
                      </a:pPr>
                      <a:r>
                        <a:rPr lang="en-US" sz="1150" b="1" dirty="0">
                          <a:solidFill>
                            <a:srgbClr val="5B6478"/>
                          </a:solidFill>
                          <a:latin typeface="Calibri" pitchFamily="34" charset="0"/>
                          <a:ea typeface="Calibri" pitchFamily="34" charset="-122"/>
                          <a:cs typeface="Calibri" pitchFamily="34" charset="-120"/>
                        </a:rPr>
                        <a:t>−1.35</a:t>
                      </a:r>
                      <a:endParaRPr lang="en-US" sz="1150" dirty="0">
                        <a:latin typeface="Calibri" charset="0"/>
                        <a:ea typeface="Calibri" charset="0"/>
                        <a:cs typeface="Calibri" charset="0"/>
                      </a:endParaRPr>
                    </a:p>
                  </a:txBody>
                  <a:tcPr marL="91440" marR="91440" marT="45720" marB="45720" anchor="ctr">
                    <a:lnL w="6350" cap="flat" cmpd="sng" algn="ctr">
                      <a:solidFill>
                        <a:srgbClr val="D8DCE4"/>
                      </a:solidFill>
                      <a:prstDash val="solid"/>
                      <a:round/>
                      <a:headEnd type="none" w="med" len="med"/>
                      <a:tailEnd type="none" w="med" len="med"/>
                    </a:lnL>
                    <a:lnR w="6350" cap="flat" cmpd="sng" algn="ctr">
                      <a:solidFill>
                        <a:srgbClr val="D8DCE4"/>
                      </a:solidFill>
                      <a:prstDash val="solid"/>
                      <a:round/>
                      <a:headEnd type="none" w="med" len="med"/>
                      <a:tailEnd type="none" w="med" len="med"/>
                    </a:lnR>
                    <a:lnT w="6350" cap="flat" cmpd="sng" algn="ctr">
                      <a:solidFill>
                        <a:srgbClr val="D8DCE4"/>
                      </a:solidFill>
                      <a:prstDash val="solid"/>
                      <a:round/>
                      <a:headEnd type="none" w="med" len="med"/>
                      <a:tailEnd type="none" w="med" len="med"/>
                    </a:lnT>
                    <a:lnB w="6350" cap="flat" cmpd="sng" algn="ctr">
                      <a:solidFill>
                        <a:srgbClr val="D8DCE4"/>
                      </a:solidFill>
                      <a:prstDash val="solid"/>
                      <a:round/>
                      <a:headEnd type="none" w="med" len="med"/>
                      <a:tailEnd type="none" w="med" len="med"/>
                    </a:lnB>
                    <a:solidFill>
                      <a:srgbClr val="DFEDF0"/>
                    </a:solidFill>
                  </a:tcPr>
                </a:tc>
              </a:tr>
            </a:tbl>
          </a:graphicData>
        </a:graphic>
      </p:graphicFrame>
      <p:sp>
        <p:nvSpPr>
          <p:cNvPr id="6" name="Shape 3"/>
          <p:cNvSpPr/>
          <p:nvPr/>
        </p:nvSpPr>
        <p:spPr>
          <a:xfrm>
            <a:off x="457200" y="3127248"/>
            <a:ext cx="2606040" cy="1005840"/>
          </a:xfrm>
          <a:prstGeom prst="roundRect">
            <a:avLst>
              <a:gd name="adj" fmla="val 5455"/>
            </a:avLst>
          </a:prstGeom>
          <a:solidFill>
            <a:schemeClr val="bg2"/>
          </a:solidFill>
          <a:ln w="9525">
            <a:solidFill>
              <a:schemeClr val="accent4"/>
            </a:solidFill>
            <a:prstDash val="solid"/>
          </a:ln>
        </p:spPr>
      </p:sp>
      <p:sp>
        <p:nvSpPr>
          <p:cNvPr id="7" name="Text 4"/>
          <p:cNvSpPr txBox="1"/>
          <p:nvPr/>
        </p:nvSpPr>
        <p:spPr>
          <a:xfrm>
            <a:off x="621792" y="3200400"/>
            <a:ext cx="2331720" cy="237744"/>
          </a:xfrm>
          <a:prstGeom prst="rect">
            <a:avLst/>
          </a:prstGeom>
          <a:noFill/>
          <a:ln/>
        </p:spPr>
        <p:txBody>
          <a:bodyPr wrap="square" lIns="0" tIns="0" rIns="0" bIns="0" rtlCol="0" anchor="t"/>
          <a:lstStyle/>
          <a:p>
            <a:pPr indent="0" marL="0">
              <a:buNone/>
            </a:pPr>
            <a:r>
              <a:rPr lang="en-US" sz="1050" b="1" dirty="0">
                <a:solidFill>
                  <a:schemeClr val="tx2"/>
                </a:solidFill>
              </a:rPr>
              <a:t>FedGDBD-S vs best baseline</a:t>
            </a:r>
            <a:endParaRPr lang="en-US" sz="1050" dirty="0"/>
          </a:p>
        </p:txBody>
      </p:sp>
      <p:sp>
        <p:nvSpPr>
          <p:cNvPr id="8" name="Text 5"/>
          <p:cNvSpPr txBox="1"/>
          <p:nvPr/>
        </p:nvSpPr>
        <p:spPr>
          <a:xfrm>
            <a:off x="621792" y="3438144"/>
            <a:ext cx="2331720" cy="347472"/>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+0.74 / +0.95</a:t>
            </a:r>
            <a:endParaRPr lang="en-US" sz="1800" dirty="0"/>
          </a:p>
        </p:txBody>
      </p:sp>
      <p:sp>
        <p:nvSpPr>
          <p:cNvPr id="9" name="Text 6"/>
          <p:cNvSpPr txBox="1"/>
          <p:nvPr/>
        </p:nvSpPr>
        <p:spPr>
          <a:xfrm>
            <a:off x="621792" y="3785616"/>
            <a:ext cx="2331720" cy="310896"/>
          </a:xfrm>
          <a:prstGeom prst="rect">
            <a:avLst/>
          </a:prstGeom>
          <a:noFill/>
          <a:ln/>
        </p:spPr>
        <p:txBody>
          <a:bodyPr wrap="square" lIns="0" tIns="0" rIns="0" bIns="0" rtlCol="0" anchor="t"/>
          <a:lstStyle/>
          <a:p>
            <a:pPr indent="0" marL="0">
              <a:buNone/>
            </a:pPr>
            <a:r>
              <a:rPr lang="en-US" sz="950" dirty="0">
                <a:solidFill>
                  <a:schemeClr val="accent2"/>
                </a:solidFill>
              </a:rPr>
              <a:t>points over LG-FedAvg (CIFAR-10 / CIFAR-100)</a:t>
            </a:r>
            <a:endParaRPr lang="en-US" sz="950" dirty="0"/>
          </a:p>
        </p:txBody>
      </p:sp>
      <p:sp>
        <p:nvSpPr>
          <p:cNvPr id="10" name="Shape 7"/>
          <p:cNvSpPr/>
          <p:nvPr/>
        </p:nvSpPr>
        <p:spPr>
          <a:xfrm>
            <a:off x="3246120" y="3127248"/>
            <a:ext cx="2606040" cy="1005840"/>
          </a:xfrm>
          <a:prstGeom prst="roundRect">
            <a:avLst>
              <a:gd name="adj" fmla="val 5455"/>
            </a:avLst>
          </a:prstGeom>
          <a:solidFill>
            <a:schemeClr val="bg2"/>
          </a:solidFill>
          <a:ln w="9525">
            <a:solidFill>
              <a:schemeClr val="accent4"/>
            </a:solidFill>
            <a:prstDash val="solid"/>
          </a:ln>
        </p:spPr>
      </p:sp>
      <p:sp>
        <p:nvSpPr>
          <p:cNvPr id="11" name="Text 8"/>
          <p:cNvSpPr txBox="1"/>
          <p:nvPr/>
        </p:nvSpPr>
        <p:spPr>
          <a:xfrm>
            <a:off x="3410712" y="3200400"/>
            <a:ext cx="2331720" cy="237744"/>
          </a:xfrm>
          <a:prstGeom prst="rect">
            <a:avLst/>
          </a:prstGeom>
          <a:noFill/>
          <a:ln/>
        </p:spPr>
        <p:txBody>
          <a:bodyPr wrap="square" lIns="0" tIns="0" rIns="0" bIns="0" rtlCol="0" anchor="t"/>
          <a:lstStyle/>
          <a:p>
            <a:pPr indent="0" marL="0">
              <a:buNone/>
            </a:pPr>
            <a:r>
              <a:rPr lang="en-US" sz="1050" b="1" dirty="0">
                <a:solidFill>
                  <a:schemeClr val="tx2"/>
                </a:solidFill>
              </a:rPr>
              <a:t>Gap to paper's Fed-GDBD</a:t>
            </a:r>
            <a:endParaRPr lang="en-US" sz="1050" dirty="0"/>
          </a:p>
        </p:txBody>
      </p:sp>
      <p:sp>
        <p:nvSpPr>
          <p:cNvPr id="12" name="Text 9"/>
          <p:cNvSpPr txBox="1"/>
          <p:nvPr/>
        </p:nvSpPr>
        <p:spPr>
          <a:xfrm>
            <a:off x="3410712" y="3438144"/>
            <a:ext cx="2331720" cy="347472"/>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−0.80 / −1.35</a:t>
            </a:r>
            <a:endParaRPr lang="en-US" sz="1800" dirty="0"/>
          </a:p>
        </p:txBody>
      </p:sp>
      <p:sp>
        <p:nvSpPr>
          <p:cNvPr id="13" name="Text 10"/>
          <p:cNvSpPr txBox="1"/>
          <p:nvPr/>
        </p:nvSpPr>
        <p:spPr>
          <a:xfrm>
            <a:off x="3410712" y="3785616"/>
            <a:ext cx="2331720" cy="310896"/>
          </a:xfrm>
          <a:prstGeom prst="rect">
            <a:avLst/>
          </a:prstGeom>
          <a:noFill/>
          <a:ln/>
        </p:spPr>
        <p:txBody>
          <a:bodyPr wrap="square" lIns="0" tIns="0" rIns="0" bIns="0" rtlCol="0" anchor="t"/>
          <a:lstStyle/>
          <a:p>
            <a:pPr indent="0" marL="0">
              <a:buNone/>
            </a:pPr>
            <a:r>
              <a:rPr lang="en-US" sz="950" dirty="0">
                <a:solidFill>
                  <a:schemeClr val="accent2"/>
                </a:solidFill>
              </a:rPr>
              <a:t>points, with 50 instead of 100 rounds and 1 seed</a:t>
            </a:r>
            <a:endParaRPr lang="en-US" sz="950" dirty="0"/>
          </a:p>
        </p:txBody>
      </p:sp>
      <p:sp>
        <p:nvSpPr>
          <p:cNvPr id="14" name="Shape 11"/>
          <p:cNvSpPr/>
          <p:nvPr/>
        </p:nvSpPr>
        <p:spPr>
          <a:xfrm>
            <a:off x="6035040" y="3127248"/>
            <a:ext cx="2606040" cy="1005840"/>
          </a:xfrm>
          <a:prstGeom prst="roundRect">
            <a:avLst>
              <a:gd name="adj" fmla="val 5455"/>
            </a:avLst>
          </a:prstGeom>
          <a:solidFill>
            <a:schemeClr val="bg2"/>
          </a:solidFill>
          <a:ln w="9525">
            <a:solidFill>
              <a:schemeClr val="accent4"/>
            </a:solidFill>
            <a:prstDash val="solid"/>
          </a:ln>
        </p:spPr>
      </p:sp>
      <p:sp>
        <p:nvSpPr>
          <p:cNvPr id="15" name="Text 12"/>
          <p:cNvSpPr txBox="1"/>
          <p:nvPr/>
        </p:nvSpPr>
        <p:spPr>
          <a:xfrm>
            <a:off x="6199632" y="3200400"/>
            <a:ext cx="2331720" cy="237744"/>
          </a:xfrm>
          <a:prstGeom prst="rect">
            <a:avLst/>
          </a:prstGeom>
          <a:noFill/>
          <a:ln/>
        </p:spPr>
        <p:txBody>
          <a:bodyPr wrap="square" lIns="0" tIns="0" rIns="0" bIns="0" rtlCol="0" anchor="t"/>
          <a:lstStyle/>
          <a:p>
            <a:pPr indent="0" marL="0">
              <a:buNone/>
            </a:pPr>
            <a:r>
              <a:rPr lang="en-US" sz="1050" b="1" dirty="0">
                <a:solidFill>
                  <a:schemeClr val="tx2"/>
                </a:solidFill>
              </a:rPr>
              <a:t>Baselines reproduced</a:t>
            </a:r>
            <a:endParaRPr lang="en-US" sz="1050" dirty="0"/>
          </a:p>
        </p:txBody>
      </p:sp>
      <p:sp>
        <p:nvSpPr>
          <p:cNvPr id="16" name="Text 13"/>
          <p:cNvSpPr txBox="1"/>
          <p:nvPr/>
        </p:nvSpPr>
        <p:spPr>
          <a:xfrm>
            <a:off x="6199632" y="3438144"/>
            <a:ext cx="2331720" cy="347472"/>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 0.5 pt</a:t>
            </a:r>
            <a:endParaRPr lang="en-US" sz="1800" dirty="0"/>
          </a:p>
        </p:txBody>
      </p:sp>
      <p:sp>
        <p:nvSpPr>
          <p:cNvPr id="17" name="Text 14"/>
          <p:cNvSpPr txBox="1"/>
          <p:nvPr/>
        </p:nvSpPr>
        <p:spPr>
          <a:xfrm>
            <a:off x="6199632" y="3785616"/>
            <a:ext cx="2331720" cy="310896"/>
          </a:xfrm>
          <a:prstGeom prst="rect">
            <a:avLst/>
          </a:prstGeom>
          <a:noFill/>
          <a:ln/>
        </p:spPr>
        <p:txBody>
          <a:bodyPr wrap="square" lIns="0" tIns="0" rIns="0" bIns="0" rtlCol="0" anchor="t"/>
          <a:lstStyle/>
          <a:p>
            <a:pPr indent="0" marL="0">
              <a:buNone/>
            </a:pPr>
            <a:r>
              <a:rPr lang="en-US" sz="950" dirty="0">
                <a:solidFill>
                  <a:schemeClr val="accent2"/>
                </a:solidFill>
              </a:rPr>
              <a:t>from the paper, except FedProto on CIFAR-100 (+4.1)</a:t>
            </a:r>
            <a:endParaRPr lang="en-US" sz="950" dirty="0"/>
          </a:p>
        </p:txBody>
      </p:sp>
      <p:sp>
        <p:nvSpPr>
          <p:cNvPr id="18" name="Text 15"/>
          <p:cNvSpPr txBox="1"/>
          <p:nvPr/>
        </p:nvSpPr>
        <p:spPr>
          <a:xfrm>
            <a:off x="457200" y="4251960"/>
            <a:ext cx="8229600" cy="411480"/>
          </a:xfrm>
          <a:prstGeom prst="rect">
            <a:avLst/>
          </a:prstGeom>
          <a:noFill/>
          <a:ln/>
        </p:spPr>
        <p:txBody>
          <a:bodyPr wrap="square" lIns="0" tIns="0" rIns="0" bIns="0" rtlCol="0" anchor="t"/>
          <a:lstStyle/>
          <a:p>
            <a:pPr indent="0" marL="0">
              <a:buNone/>
            </a:pPr>
            <a:r>
              <a:rPr lang="en-US" sz="1000" i="1" dirty="0">
                <a:solidFill>
                  <a:schemeClr val="accent2"/>
                </a:solidFill>
              </a:rPr>
              <a:t>Metric: average of the 20 clients' local test accuracies, best round of 50 (paper protocol). * Faithful Eq. 13: best round before the collapse (round 1 / round 2); stopped after 9–10 rounds.</a:t>
            </a:r>
            <a:endParaRPr lang="en-US" sz="100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nchor="ctr"/>
          <a:lstStyle/>
          <a:p>
            <a:pPr indent="0" marL="0">
              <a:buNone/>
            </a:pPr>
            <a:r>
              <a:rPr lang="en-US" sz="900" b="1" spc="100" kern="0" dirty="0">
                <a:solidFill>
                  <a:schemeClr val="accent1"/>
                </a:solidFill>
              </a:rPr>
              <a:t>RESULTS ANALYSIS · CONVERGENCE</a:t>
            </a:r>
            <a:endParaRPr lang="en-US" sz="9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Accuracy over 50 Communication Rounds</a:t>
            </a:r>
            <a:endParaRPr lang="en-US" sz="2400" dirty="0"/>
          </a:p>
        </p:txBody>
      </p:sp>
      <p:sp>
        <p:nvSpPr>
          <p:cNvPr id="4" name="Text 0"/>
          <p:cNvSpPr/>
          <p:nvPr>
            <p:ph idx="102" type="body" hasCustomPrompt="1"/>
          </p:nvPr>
        </p:nvSpPr>
        <p:spPr>
          <a:xfrm>
            <a:off x="457200" y="4800600"/>
            <a:ext cx="5486400" cy="201168"/>
          </a:xfrm>
          <a:prstGeom prst="rect">
            <a:avLst/>
          </a:prstGeom>
          <a:noFill/>
          <a:ln/>
        </p:spPr>
        <p:txBody>
          <a:bodyPr wrap="square" lIns="0" tIns="0" rIns="0" bIns="0" rtlCol="0" anchor="ctr"/>
          <a:lstStyle/>
          <a:p>
            <a:pPr indent="0" marL="0">
              <a:buNone/>
            </a:pPr>
            <a:r>
              <a:rPr lang="en-US" sz="800" dirty="0">
                <a:solidFill>
                  <a:schemeClr val="accent5"/>
                </a:solidFill>
              </a:rPr>
              <a:t>RESULTS ANALYSIS</a:t>
            </a:r>
            <a:endParaRPr lang="en-US" sz="800" dirty="0"/>
          </a:p>
        </p:txBody>
      </p:sp>
      <p:graphicFrame>
        <p:nvGraphicFramePr>
          <p:cNvPr id="5" name="Chart 0" descr=""/>
          <p:cNvGraphicFramePr/>
          <p:nvPr/>
        </p:nvGraphicFramePr>
        <p:xfrm>
          <a:off x="457200" y="1051560"/>
          <a:ext cx="406908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617720" y="1051560"/>
          <a:ext cx="4069080" cy="251460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3730752"/>
            <a:ext cx="256032" cy="256032"/>
          </a:xfrm>
          <a:prstGeom prst="ellipse">
            <a:avLst/>
          </a:prstGeom>
          <a:solidFill>
            <a:schemeClr val="accent1"/>
          </a:solidFill>
          <a:ln w="12700">
            <a:solidFill>
              <a:schemeClr val="accent1"/>
            </a:solidFill>
            <a:prstDash val="solid"/>
          </a:ln>
        </p:spPr>
      </p:sp>
      <p:sp>
        <p:nvSpPr>
          <p:cNvPr id="8" name="Text 4"/>
          <p:cNvSpPr txBox="1"/>
          <p:nvPr/>
        </p:nvSpPr>
        <p:spPr>
          <a:xfrm>
            <a:off x="457200" y="373075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9" name="Text 5"/>
          <p:cNvSpPr txBox="1"/>
          <p:nvPr/>
        </p:nvSpPr>
        <p:spPr>
          <a:xfrm>
            <a:off x="786384" y="3694176"/>
            <a:ext cx="2377440" cy="960120"/>
          </a:xfrm>
          <a:prstGeom prst="rect">
            <a:avLst/>
          </a:prstGeom>
          <a:noFill/>
          <a:ln/>
        </p:spPr>
        <p:txBody>
          <a:bodyPr wrap="square" lIns="0" tIns="0" rIns="0" bIns="0" rtlCol="0" anchor="t"/>
          <a:lstStyle/>
          <a:p>
            <a:pPr indent="0" marL="0">
              <a:buNone/>
            </a:pPr>
            <a:r>
              <a:rPr lang="en-US" sz="950" b="1" dirty="0">
                <a:solidFill>
                  <a:schemeClr val="tx2"/>
                </a:solidFill>
              </a:rPr>
              <a:t>Stability: </a:t>
            </a:r>
            <a:pPr indent="0" marL="0">
              <a:buNone/>
            </a:pPr>
            <a:r>
              <a:rPr lang="en-US" sz="950" dirty="0">
                <a:solidFill>
                  <a:schemeClr val="accent2"/>
                </a:solidFill>
              </a:rPr>
              <a:t>Faithful Fed-GDBD peaks at round 1–2, then falls to 75.5 % / 28.0 %. FedGDBD-S stays within ±0.5 pt of its best for all 50 rounds.</a:t>
            </a:r>
            <a:endParaRPr lang="en-US" sz="950" dirty="0"/>
          </a:p>
        </p:txBody>
      </p:sp>
      <p:sp>
        <p:nvSpPr>
          <p:cNvPr id="10" name="Shape 6"/>
          <p:cNvSpPr/>
          <p:nvPr/>
        </p:nvSpPr>
        <p:spPr>
          <a:xfrm>
            <a:off x="3246120" y="3730752"/>
            <a:ext cx="256032" cy="256032"/>
          </a:xfrm>
          <a:prstGeom prst="ellipse">
            <a:avLst/>
          </a:prstGeom>
          <a:solidFill>
            <a:schemeClr val="tx2"/>
          </a:solidFill>
          <a:ln w="12700">
            <a:solidFill>
              <a:schemeClr val="tx2"/>
            </a:solidFill>
            <a:prstDash val="solid"/>
          </a:ln>
        </p:spPr>
      </p:sp>
      <p:sp>
        <p:nvSpPr>
          <p:cNvPr id="11" name="Text 7"/>
          <p:cNvSpPr txBox="1"/>
          <p:nvPr/>
        </p:nvSpPr>
        <p:spPr>
          <a:xfrm>
            <a:off x="3246120" y="373075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8"/>
          <p:cNvSpPr txBox="1"/>
          <p:nvPr/>
        </p:nvSpPr>
        <p:spPr>
          <a:xfrm>
            <a:off x="3575304" y="3694176"/>
            <a:ext cx="2377440" cy="960120"/>
          </a:xfrm>
          <a:prstGeom prst="rect">
            <a:avLst/>
          </a:prstGeom>
          <a:noFill/>
          <a:ln/>
        </p:spPr>
        <p:txBody>
          <a:bodyPr wrap="square" lIns="0" tIns="0" rIns="0" bIns="0" rtlCol="0" anchor="t"/>
          <a:lstStyle/>
          <a:p>
            <a:pPr indent="0" marL="0">
              <a:buNone/>
            </a:pPr>
            <a:r>
              <a:rPr lang="en-US" sz="950" b="1" dirty="0">
                <a:solidFill>
                  <a:schemeClr val="tx2"/>
                </a:solidFill>
              </a:rPr>
              <a:t>Speed: </a:t>
            </a:r>
            <a:pPr indent="0" marL="0">
              <a:buNone/>
            </a:pPr>
            <a:r>
              <a:rPr lang="en-US" sz="950" dirty="0">
                <a:solidFill>
                  <a:schemeClr val="accent2"/>
                </a:solidFill>
              </a:rPr>
              <a:t>Both Fed-GDBD variants reach within 1 pt of their best by round 2–5; baselines need 13–31 rounds (helped by 5 pre-training epochs).</a:t>
            </a:r>
            <a:endParaRPr lang="en-US" sz="950" dirty="0"/>
          </a:p>
        </p:txBody>
      </p:sp>
      <p:sp>
        <p:nvSpPr>
          <p:cNvPr id="13" name="Shape 9"/>
          <p:cNvSpPr/>
          <p:nvPr/>
        </p:nvSpPr>
        <p:spPr>
          <a:xfrm>
            <a:off x="6035040" y="3730752"/>
            <a:ext cx="256032" cy="256032"/>
          </a:xfrm>
          <a:prstGeom prst="ellipse">
            <a:avLst/>
          </a:prstGeom>
          <a:solidFill>
            <a:schemeClr val="tx2"/>
          </a:solidFill>
          <a:ln w="12700">
            <a:solidFill>
              <a:schemeClr val="tx2"/>
            </a:solidFill>
            <a:prstDash val="solid"/>
          </a:ln>
        </p:spPr>
      </p:sp>
      <p:sp>
        <p:nvSpPr>
          <p:cNvPr id="14" name="Text 10"/>
          <p:cNvSpPr txBox="1"/>
          <p:nvPr/>
        </p:nvSpPr>
        <p:spPr>
          <a:xfrm>
            <a:off x="6035040" y="373075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5" name="Text 11"/>
          <p:cNvSpPr txBox="1"/>
          <p:nvPr/>
        </p:nvSpPr>
        <p:spPr>
          <a:xfrm>
            <a:off x="6364224" y="3694176"/>
            <a:ext cx="2377440" cy="960120"/>
          </a:xfrm>
          <a:prstGeom prst="rect">
            <a:avLst/>
          </a:prstGeom>
          <a:noFill/>
          <a:ln/>
        </p:spPr>
        <p:txBody>
          <a:bodyPr wrap="square" lIns="0" tIns="0" rIns="0" bIns="0" rtlCol="0" anchor="t"/>
          <a:lstStyle/>
          <a:p>
            <a:pPr indent="0" marL="0">
              <a:buNone/>
            </a:pPr>
            <a:r>
              <a:rPr lang="en-US" sz="950" b="1" dirty="0">
                <a:solidFill>
                  <a:schemeClr val="tx2"/>
                </a:solidFill>
              </a:rPr>
              <a:t>Cost: </a:t>
            </a:r>
            <a:pPr indent="0" marL="0">
              <a:buNone/>
            </a:pPr>
            <a:r>
              <a:rPr lang="en-US" sz="950" dirty="0">
                <a:solidFill>
                  <a:schemeClr val="accent2"/>
                </a:solidFill>
              </a:rPr>
              <a:t>FedGDBD-S ≈ 10 min/round vs 5–10 for baselines: two local passes plus clustering every round.</a:t>
            </a:r>
            <a:endParaRPr lang="en-US" sz="95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nchor="ctr"/>
          <a:lstStyle/>
          <a:p>
            <a:pPr indent="0" marL="0">
              <a:buNone/>
            </a:pPr>
            <a:r>
              <a:rPr lang="en-US" sz="900" b="1" spc="100" kern="0" dirty="0">
                <a:solidFill>
                  <a:schemeClr val="accent1"/>
                </a:solidFill>
              </a:rPr>
              <a:t>NOVELTY · OUR CONTRIBUTION</a:t>
            </a:r>
            <a:endParaRPr lang="en-US" sz="9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FedGDBD-S: Stabilising Global Boundary Distillation</a:t>
            </a:r>
            <a:endParaRPr lang="en-US" sz="2400" dirty="0"/>
          </a:p>
        </p:txBody>
      </p:sp>
      <p:sp>
        <p:nvSpPr>
          <p:cNvPr id="4" name="Text 0"/>
          <p:cNvSpPr/>
          <p:nvPr>
            <p:ph idx="102" type="body" hasCustomPrompt="1"/>
          </p:nvPr>
        </p:nvSpPr>
        <p:spPr>
          <a:xfrm>
            <a:off x="457200" y="4800600"/>
            <a:ext cx="5486400" cy="201168"/>
          </a:xfrm>
          <a:prstGeom prst="rect">
            <a:avLst/>
          </a:prstGeom>
          <a:noFill/>
          <a:ln/>
        </p:spPr>
        <p:txBody>
          <a:bodyPr wrap="square" lIns="0" tIns="0" rIns="0" bIns="0" rtlCol="0" anchor="ctr"/>
          <a:lstStyle/>
          <a:p>
            <a:pPr indent="0" marL="0">
              <a:buNone/>
            </a:pPr>
            <a:r>
              <a:rPr lang="en-US" sz="800" dirty="0">
                <a:solidFill>
                  <a:schemeClr val="accent5"/>
                </a:solidFill>
              </a:rPr>
              <a:t>NOVELTY</a:t>
            </a:r>
            <a:endParaRPr lang="en-US" sz="800" dirty="0"/>
          </a:p>
        </p:txBody>
      </p:sp>
      <p:graphicFrame>
        <p:nvGraphicFramePr>
          <p:cNvPr id="5" name="Chart 0" descr=""/>
          <p:cNvGraphicFramePr/>
          <p:nvPr/>
        </p:nvGraphicFramePr>
        <p:xfrm>
          <a:off x="457200" y="1051560"/>
          <a:ext cx="4023360" cy="26060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663440" y="1051560"/>
            <a:ext cx="4023360" cy="804672"/>
          </a:xfrm>
          <a:prstGeom prst="roundRect">
            <a:avLst>
              <a:gd name="adj" fmla="val 6818"/>
            </a:avLst>
          </a:prstGeom>
          <a:solidFill>
            <a:schemeClr val="accent3"/>
          </a:solidFill>
          <a:ln w="9525">
            <a:solidFill>
              <a:schemeClr val="accent3"/>
            </a:solidFill>
            <a:prstDash val="solid"/>
          </a:ln>
        </p:spPr>
      </p:sp>
      <p:sp>
        <p:nvSpPr>
          <p:cNvPr id="7" name="Shape 4"/>
          <p:cNvSpPr/>
          <p:nvPr/>
        </p:nvSpPr>
        <p:spPr>
          <a:xfrm>
            <a:off x="4800600" y="1161288"/>
            <a:ext cx="274320" cy="274320"/>
          </a:xfrm>
          <a:prstGeom prst="ellipse">
            <a:avLst/>
          </a:prstGeom>
          <a:solidFill>
            <a:schemeClr val="accent1"/>
          </a:solidFill>
          <a:ln w="12700">
            <a:solidFill>
              <a:schemeClr val="accent1"/>
            </a:solidFill>
            <a:prstDash val="solid"/>
          </a:ln>
        </p:spPr>
      </p:sp>
      <p:sp>
        <p:nvSpPr>
          <p:cNvPr id="8" name="Text 5"/>
          <p:cNvSpPr txBox="1"/>
          <p:nvPr/>
        </p:nvSpPr>
        <p:spPr>
          <a:xfrm>
            <a:off x="4800600" y="116128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9" name="Text 6"/>
          <p:cNvSpPr txBox="1"/>
          <p:nvPr/>
        </p:nvSpPr>
        <p:spPr>
          <a:xfrm>
            <a:off x="5166360" y="1143000"/>
            <a:ext cx="3383280" cy="256032"/>
          </a:xfrm>
          <a:prstGeom prst="rect">
            <a:avLst/>
          </a:prstGeom>
          <a:noFill/>
          <a:ln/>
        </p:spPr>
        <p:txBody>
          <a:bodyPr wrap="square" lIns="0" tIns="0" rIns="0" bIns="0" rtlCol="0" anchor="ctr"/>
          <a:lstStyle/>
          <a:p>
            <a:pPr indent="0" marL="0">
              <a:buNone/>
            </a:pPr>
            <a:r>
              <a:rPr lang="en-US" sz="1150" b="1" dirty="0">
                <a:solidFill>
                  <a:schemeClr val="tx2"/>
                </a:solidFill>
              </a:rPr>
              <a:t>Diagnosis</a:t>
            </a:r>
            <a:endParaRPr lang="en-US" sz="1150" dirty="0"/>
          </a:p>
        </p:txBody>
      </p:sp>
      <p:sp>
        <p:nvSpPr>
          <p:cNvPr id="10" name="Text 7"/>
          <p:cNvSpPr txBox="1"/>
          <p:nvPr/>
        </p:nvSpPr>
        <p:spPr>
          <a:xfrm>
            <a:off x="5166360" y="1399032"/>
            <a:ext cx="3429000" cy="438912"/>
          </a:xfrm>
          <a:prstGeom prst="rect">
            <a:avLst/>
          </a:prstGeom>
          <a:noFill/>
          <a:ln/>
        </p:spPr>
        <p:txBody>
          <a:bodyPr wrap="square" lIns="0" tIns="0" rIns="0" bIns="0" rtlCol="0" anchor="t"/>
          <a:lstStyle/>
          <a:p>
            <a:pPr indent="0" marL="0">
              <a:buNone/>
            </a:pPr>
            <a:r>
              <a:rPr lang="en-US" sz="900" dirty="0">
                <a:solidFill>
                  <a:schemeClr val="accent2"/>
                </a:solidFill>
              </a:rPr>
              <a:t>One linear g serves four feature spaces; on some, its logits dwarf the head's and α·T² = 280 swamps CE. CNN 48 → 4 % (CIFAR-100), ResNet18 79 → 53 % (CIFAR-10).</a:t>
            </a:r>
            <a:endParaRPr lang="en-US" sz="900" dirty="0"/>
          </a:p>
        </p:txBody>
      </p:sp>
      <p:sp>
        <p:nvSpPr>
          <p:cNvPr id="11" name="Shape 8"/>
          <p:cNvSpPr/>
          <p:nvPr/>
        </p:nvSpPr>
        <p:spPr>
          <a:xfrm>
            <a:off x="4663440" y="1947672"/>
            <a:ext cx="4023360" cy="804672"/>
          </a:xfrm>
          <a:prstGeom prst="roundRect">
            <a:avLst>
              <a:gd name="adj" fmla="val 6818"/>
            </a:avLst>
          </a:prstGeom>
          <a:solidFill>
            <a:schemeClr val="bg2"/>
          </a:solidFill>
          <a:ln w="9525">
            <a:solidFill>
              <a:schemeClr val="accent4"/>
            </a:solidFill>
            <a:prstDash val="solid"/>
          </a:ln>
        </p:spPr>
      </p:sp>
      <p:sp>
        <p:nvSpPr>
          <p:cNvPr id="12" name="Shape 9"/>
          <p:cNvSpPr/>
          <p:nvPr/>
        </p:nvSpPr>
        <p:spPr>
          <a:xfrm>
            <a:off x="4800600" y="2057400"/>
            <a:ext cx="274320" cy="274320"/>
          </a:xfrm>
          <a:prstGeom prst="ellipse">
            <a:avLst/>
          </a:prstGeom>
          <a:solidFill>
            <a:schemeClr val="tx2"/>
          </a:solidFill>
          <a:ln w="12700">
            <a:solidFill>
              <a:schemeClr val="tx2"/>
            </a:solidFill>
            <a:prstDash val="solid"/>
          </a:ln>
        </p:spPr>
      </p:sp>
      <p:sp>
        <p:nvSpPr>
          <p:cNvPr id="13" name="Text 10"/>
          <p:cNvSpPr txBox="1"/>
          <p:nvPr/>
        </p:nvSpPr>
        <p:spPr>
          <a:xfrm>
            <a:off x="4800600" y="205740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4" name="Text 11"/>
          <p:cNvSpPr txBox="1"/>
          <p:nvPr/>
        </p:nvSpPr>
        <p:spPr>
          <a:xfrm>
            <a:off x="5166360" y="2039112"/>
            <a:ext cx="3383280" cy="256032"/>
          </a:xfrm>
          <a:prstGeom prst="rect">
            <a:avLst/>
          </a:prstGeom>
          <a:noFill/>
          <a:ln/>
        </p:spPr>
        <p:txBody>
          <a:bodyPr wrap="square" lIns="0" tIns="0" rIns="0" bIns="0" rtlCol="0" anchor="ctr"/>
          <a:lstStyle/>
          <a:p>
            <a:pPr indent="0" marL="0">
              <a:buNone/>
            </a:pPr>
            <a:r>
              <a:rPr lang="en-US" sz="1150" b="1" dirty="0">
                <a:solidFill>
                  <a:schemeClr val="tx2"/>
                </a:solidFill>
              </a:rPr>
              <a:t>Fix 1: logit-scale matching</a:t>
            </a:r>
            <a:endParaRPr lang="en-US" sz="1150" dirty="0"/>
          </a:p>
        </p:txBody>
      </p:sp>
      <p:sp>
        <p:nvSpPr>
          <p:cNvPr id="15" name="Text 12"/>
          <p:cNvSpPr txBox="1"/>
          <p:nvPr/>
        </p:nvSpPr>
        <p:spPr>
          <a:xfrm>
            <a:off x="5166360" y="2295144"/>
            <a:ext cx="3429000" cy="438912"/>
          </a:xfrm>
          <a:prstGeom prst="rect">
            <a:avLst/>
          </a:prstGeom>
          <a:noFill/>
          <a:ln/>
        </p:spPr>
        <p:txBody>
          <a:bodyPr wrap="square" lIns="0" tIns="0" rIns="0" bIns="0" rtlCol="0" anchor="t"/>
          <a:lstStyle/>
          <a:p>
            <a:pPr indent="0" marL="0">
              <a:buNone/>
            </a:pPr>
            <a:r>
              <a:rPr lang="en-US" sz="900" dirty="0">
                <a:solidFill>
                  <a:schemeClr val="accent2"/>
                </a:solidFill>
              </a:rPr>
              <a:t>g̃(z) = g(z) · std(h(z)) / std(g(z)), per sample, so the teacher's confidence matches the student's scale.</a:t>
            </a:r>
            <a:endParaRPr lang="en-US" sz="900" dirty="0"/>
          </a:p>
        </p:txBody>
      </p:sp>
      <p:sp>
        <p:nvSpPr>
          <p:cNvPr id="16" name="Shape 13"/>
          <p:cNvSpPr/>
          <p:nvPr/>
        </p:nvSpPr>
        <p:spPr>
          <a:xfrm>
            <a:off x="4663440" y="2843784"/>
            <a:ext cx="4023360" cy="804672"/>
          </a:xfrm>
          <a:prstGeom prst="roundRect">
            <a:avLst>
              <a:gd name="adj" fmla="val 6818"/>
            </a:avLst>
          </a:prstGeom>
          <a:solidFill>
            <a:schemeClr val="bg2"/>
          </a:solidFill>
          <a:ln w="9525">
            <a:solidFill>
              <a:schemeClr val="accent4"/>
            </a:solidFill>
            <a:prstDash val="solid"/>
          </a:ln>
        </p:spPr>
      </p:sp>
      <p:sp>
        <p:nvSpPr>
          <p:cNvPr id="17" name="Shape 14"/>
          <p:cNvSpPr/>
          <p:nvPr/>
        </p:nvSpPr>
        <p:spPr>
          <a:xfrm>
            <a:off x="4800600" y="2953512"/>
            <a:ext cx="274320" cy="274320"/>
          </a:xfrm>
          <a:prstGeom prst="ellipse">
            <a:avLst/>
          </a:prstGeom>
          <a:solidFill>
            <a:schemeClr val="tx2"/>
          </a:solidFill>
          <a:ln w="12700">
            <a:solidFill>
              <a:schemeClr val="tx2"/>
            </a:solidFill>
            <a:prstDash val="solid"/>
          </a:ln>
        </p:spPr>
      </p:sp>
      <p:sp>
        <p:nvSpPr>
          <p:cNvPr id="18" name="Text 15"/>
          <p:cNvSpPr txBox="1"/>
          <p:nvPr/>
        </p:nvSpPr>
        <p:spPr>
          <a:xfrm>
            <a:off x="4800600" y="295351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9" name="Text 16"/>
          <p:cNvSpPr txBox="1"/>
          <p:nvPr/>
        </p:nvSpPr>
        <p:spPr>
          <a:xfrm>
            <a:off x="5166360" y="2935224"/>
            <a:ext cx="3383280" cy="256032"/>
          </a:xfrm>
          <a:prstGeom prst="rect">
            <a:avLst/>
          </a:prstGeom>
          <a:noFill/>
          <a:ln/>
        </p:spPr>
        <p:txBody>
          <a:bodyPr wrap="square" lIns="0" tIns="0" rIns="0" bIns="0" rtlCol="0" anchor="ctr"/>
          <a:lstStyle/>
          <a:p>
            <a:pPr indent="0" marL="0">
              <a:buNone/>
            </a:pPr>
            <a:r>
              <a:rPr lang="en-US" sz="1150" b="1" dirty="0">
                <a:solidFill>
                  <a:schemeClr val="tx2"/>
                </a:solidFill>
              </a:rPr>
              <a:t>Fix 2: head-only distillation</a:t>
            </a:r>
            <a:endParaRPr lang="en-US" sz="1150" dirty="0"/>
          </a:p>
        </p:txBody>
      </p:sp>
      <p:sp>
        <p:nvSpPr>
          <p:cNvPr id="20" name="Text 17"/>
          <p:cNvSpPr txBox="1"/>
          <p:nvPr/>
        </p:nvSpPr>
        <p:spPr>
          <a:xfrm>
            <a:off x="5166360" y="3191256"/>
            <a:ext cx="3429000" cy="438912"/>
          </a:xfrm>
          <a:prstGeom prst="rect">
            <a:avLst/>
          </a:prstGeom>
          <a:noFill/>
          <a:ln/>
        </p:spPr>
        <p:txBody>
          <a:bodyPr wrap="square" lIns="0" tIns="0" rIns="0" bIns="0" rtlCol="0" anchor="t"/>
          <a:lstStyle/>
          <a:p>
            <a:pPr indent="0" marL="0">
              <a:buNone/>
            </a:pPr>
            <a:r>
              <a:rPr lang="en-US" sz="900" dirty="0">
                <a:solidFill>
                  <a:schemeClr val="accent2"/>
                </a:solidFill>
              </a:rPr>
              <a:t>The KD term updates only the head h(stop-grad(z)); cross-entropy still trains the full model, so g cannot distort the extractor.</a:t>
            </a:r>
            <a:endParaRPr lang="en-US" sz="900" dirty="0"/>
          </a:p>
        </p:txBody>
      </p:sp>
      <p:sp>
        <p:nvSpPr>
          <p:cNvPr id="21" name="Shape 18"/>
          <p:cNvSpPr/>
          <p:nvPr/>
        </p:nvSpPr>
        <p:spPr>
          <a:xfrm>
            <a:off x="457200" y="3840480"/>
            <a:ext cx="8229600" cy="822960"/>
          </a:xfrm>
          <a:prstGeom prst="roundRect">
            <a:avLst>
              <a:gd name="adj" fmla="val 6667"/>
            </a:avLst>
          </a:prstGeom>
          <a:solidFill>
            <a:schemeClr val="tx2"/>
          </a:solidFill>
          <a:ln w="9525">
            <a:solidFill>
              <a:schemeClr val="tx2"/>
            </a:solidFill>
            <a:prstDash val="solid"/>
          </a:ln>
        </p:spPr>
      </p:sp>
      <p:sp>
        <p:nvSpPr>
          <p:cNvPr id="22" name="Text 19"/>
          <p:cNvSpPr txBox="1"/>
          <p:nvPr/>
        </p:nvSpPr>
        <p:spPr>
          <a:xfrm>
            <a:off x="640080" y="3840480"/>
            <a:ext cx="7863840" cy="822960"/>
          </a:xfrm>
          <a:prstGeom prst="rect">
            <a:avLst/>
          </a:prstGeom>
          <a:noFill/>
          <a:ln/>
        </p:spPr>
        <p:txBody>
          <a:bodyPr wrap="square" lIns="0" tIns="0" rIns="0" bIns="0" rtlCol="0" anchor="ctr"/>
          <a:lstStyle/>
          <a:p>
            <a:pPr indent="0" marL="0">
              <a:buNone/>
            </a:pPr>
            <a:r>
              <a:rPr lang="en-US" sz="1100" b="1" dirty="0">
                <a:solidFill>
                  <a:schemeClr val="bg1"/>
                </a:solidFill>
              </a:rPr>
              <a:t>Result: </a:t>
            </a:r>
            <a:pPr indent="0" marL="0">
              <a:buNone/>
            </a:pPr>
            <a:r>
              <a:rPr lang="en-US" sz="1100" dirty="0">
                <a:solidFill>
                  <a:schemeClr val="bg1"/>
                </a:solidFill>
              </a:rPr>
              <a:t>87.10 % / 43.74 %, the best of all methods we ran, with zero extra communication and a two-line code change.</a:t>
            </a:r>
            <a:endParaRPr lang="en-US" sz="1100" dirty="0"/>
          </a:p>
          <a:p>
            <a:pPr indent="0" marL="0">
              <a:buNone/>
            </a:pPr>
            <a:r>
              <a:rPr lang="en-US" sz="950" dirty="0">
                <a:solidFill>
                  <a:schemeClr val="accent6"/>
                </a:solidFill>
              </a:rPr>
              <a:t>Next ideas (not yet tested): per-class prototype count v_c ∝ feature variance; per-client α_i from local–global prototype alignment.</a:t>
            </a:r>
            <a:endParaRPr lang="en-US" sz="110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7315200" cy="228600"/>
          </a:xfrm>
          <a:prstGeom prst="rect">
            <a:avLst/>
          </a:prstGeom>
          <a:noFill/>
          <a:ln/>
        </p:spPr>
        <p:txBody>
          <a:bodyPr wrap="square" lIns="0" tIns="0" rIns="0" bIns="0" rtlCol="0" anchor="t"/>
          <a:lstStyle/>
          <a:p>
            <a:pPr indent="0" marL="0">
              <a:buNone/>
            </a:pPr>
            <a:r>
              <a:rPr lang="en-US" sz="900" b="1" spc="100" kern="0" dirty="0">
                <a:solidFill>
                  <a:schemeClr val="accent6"/>
                </a:solidFill>
              </a:rPr>
              <a:t>CONCLUSION</a:t>
            </a:r>
            <a:endParaRPr lang="en-US" sz="900" dirty="0"/>
          </a:p>
        </p:txBody>
      </p:sp>
      <p:sp>
        <p:nvSpPr>
          <p:cNvPr id="3" name="Text 1"/>
          <p:cNvSpPr txBox="1"/>
          <p:nvPr/>
        </p:nvSpPr>
        <p:spPr>
          <a:xfrm>
            <a:off x="548640" y="621792"/>
            <a:ext cx="8046720" cy="50292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What We Learned</a:t>
            </a:r>
            <a:endParaRPr lang="en-US" sz="2600" dirty="0"/>
          </a:p>
        </p:txBody>
      </p:sp>
      <p:sp>
        <p:nvSpPr>
          <p:cNvPr id="4" name="Shape 2"/>
          <p:cNvSpPr/>
          <p:nvPr/>
        </p:nvSpPr>
        <p:spPr>
          <a:xfrm>
            <a:off x="548640" y="1371600"/>
            <a:ext cx="3886200" cy="1280160"/>
          </a:xfrm>
          <a:prstGeom prst="roundRect">
            <a:avLst>
              <a:gd name="adj" fmla="val 4286"/>
            </a:avLst>
          </a:prstGeom>
          <a:solidFill>
            <a:srgbClr val="2C3B63"/>
          </a:solidFill>
          <a:ln w="12700">
            <a:solidFill>
              <a:srgbClr val="2C3B63"/>
            </a:solidFill>
            <a:prstDash val="solid"/>
          </a:ln>
        </p:spPr>
      </p:sp>
      <p:sp>
        <p:nvSpPr>
          <p:cNvPr id="5" name="Shape 3"/>
          <p:cNvSpPr/>
          <p:nvPr/>
        </p:nvSpPr>
        <p:spPr>
          <a:xfrm>
            <a:off x="713232" y="1536192"/>
            <a:ext cx="292608" cy="292608"/>
          </a:xfrm>
          <a:prstGeom prst="ellipse">
            <a:avLst/>
          </a:prstGeom>
          <a:solidFill>
            <a:schemeClr val="accent1"/>
          </a:solidFill>
          <a:ln w="12700">
            <a:solidFill>
              <a:schemeClr val="accent1"/>
            </a:solidFill>
            <a:prstDash val="solid"/>
          </a:ln>
        </p:spPr>
      </p:sp>
      <p:sp>
        <p:nvSpPr>
          <p:cNvPr id="6" name="Text 4"/>
          <p:cNvSpPr txBox="1"/>
          <p:nvPr/>
        </p:nvSpPr>
        <p:spPr>
          <a:xfrm>
            <a:off x="713232" y="1536192"/>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7" name="Text 5"/>
          <p:cNvSpPr txBox="1"/>
          <p:nvPr/>
        </p:nvSpPr>
        <p:spPr>
          <a:xfrm>
            <a:off x="1115568" y="1536192"/>
            <a:ext cx="3108960" cy="292608"/>
          </a:xfrm>
          <a:prstGeom prst="rect">
            <a:avLst/>
          </a:prstGeom>
          <a:noFill/>
          <a:ln/>
        </p:spPr>
        <p:txBody>
          <a:bodyPr wrap="square" lIns="0" tIns="0" rIns="0" bIns="0" rtlCol="0" anchor="ctr"/>
          <a:lstStyle/>
          <a:p>
            <a:pPr indent="0" marL="0">
              <a:buNone/>
            </a:pPr>
            <a:r>
              <a:rPr lang="en-US" sz="1300" b="1" dirty="0">
                <a:solidFill>
                  <a:schemeClr val="bg1"/>
                </a:solidFill>
              </a:rPr>
              <a:t>Reproduced</a:t>
            </a:r>
            <a:endParaRPr lang="en-US" sz="1300" dirty="0"/>
          </a:p>
        </p:txBody>
      </p:sp>
      <p:sp>
        <p:nvSpPr>
          <p:cNvPr id="8" name="Text 6"/>
          <p:cNvSpPr txBox="1"/>
          <p:nvPr/>
        </p:nvSpPr>
        <p:spPr>
          <a:xfrm>
            <a:off x="731520" y="1920240"/>
            <a:ext cx="3566160" cy="685800"/>
          </a:xfrm>
          <a:prstGeom prst="rect">
            <a:avLst/>
          </a:prstGeom>
          <a:noFill/>
          <a:ln/>
        </p:spPr>
        <p:txBody>
          <a:bodyPr wrap="square" lIns="0" tIns="0" rIns="0" bIns="0" rtlCol="0" anchor="t"/>
          <a:lstStyle/>
          <a:p>
            <a:pPr indent="0" marL="0">
              <a:buNone/>
            </a:pPr>
            <a:r>
              <a:rPr lang="en-US" sz="1050" dirty="0">
                <a:solidFill>
                  <a:schemeClr val="accent6"/>
                </a:solidFill>
              </a:rPr>
              <a:t>Fed-GDBD re-implemented from the paper alone. Both baselines match the paper within 0.5 pt (FedProto on CIFAR-100 is 4.1 pt better).</a:t>
            </a:r>
            <a:endParaRPr lang="en-US" sz="1050" dirty="0"/>
          </a:p>
        </p:txBody>
      </p:sp>
      <p:sp>
        <p:nvSpPr>
          <p:cNvPr id="9" name="Shape 7"/>
          <p:cNvSpPr/>
          <p:nvPr/>
        </p:nvSpPr>
        <p:spPr>
          <a:xfrm>
            <a:off x="4617720" y="1371600"/>
            <a:ext cx="3886200" cy="1280160"/>
          </a:xfrm>
          <a:prstGeom prst="roundRect">
            <a:avLst>
              <a:gd name="adj" fmla="val 4286"/>
            </a:avLst>
          </a:prstGeom>
          <a:solidFill>
            <a:srgbClr val="2C3B63"/>
          </a:solidFill>
          <a:ln w="12700">
            <a:solidFill>
              <a:srgbClr val="2C3B63"/>
            </a:solidFill>
            <a:prstDash val="solid"/>
          </a:ln>
        </p:spPr>
      </p:sp>
      <p:sp>
        <p:nvSpPr>
          <p:cNvPr id="10" name="Shape 8"/>
          <p:cNvSpPr/>
          <p:nvPr/>
        </p:nvSpPr>
        <p:spPr>
          <a:xfrm>
            <a:off x="4782312" y="1536192"/>
            <a:ext cx="292608" cy="292608"/>
          </a:xfrm>
          <a:prstGeom prst="ellipse">
            <a:avLst/>
          </a:prstGeom>
          <a:solidFill>
            <a:schemeClr val="accent1"/>
          </a:solidFill>
          <a:ln w="12700">
            <a:solidFill>
              <a:schemeClr val="accent1"/>
            </a:solidFill>
            <a:prstDash val="solid"/>
          </a:ln>
        </p:spPr>
      </p:sp>
      <p:sp>
        <p:nvSpPr>
          <p:cNvPr id="11" name="Text 9"/>
          <p:cNvSpPr txBox="1"/>
          <p:nvPr/>
        </p:nvSpPr>
        <p:spPr>
          <a:xfrm>
            <a:off x="4782312" y="1536192"/>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10"/>
          <p:cNvSpPr txBox="1"/>
          <p:nvPr/>
        </p:nvSpPr>
        <p:spPr>
          <a:xfrm>
            <a:off x="5184648" y="1536192"/>
            <a:ext cx="3108960" cy="292608"/>
          </a:xfrm>
          <a:prstGeom prst="rect">
            <a:avLst/>
          </a:prstGeom>
          <a:noFill/>
          <a:ln/>
        </p:spPr>
        <p:txBody>
          <a:bodyPr wrap="square" lIns="0" tIns="0" rIns="0" bIns="0" rtlCol="0" anchor="ctr"/>
          <a:lstStyle/>
          <a:p>
            <a:pPr indent="0" marL="0">
              <a:buNone/>
            </a:pPr>
            <a:r>
              <a:rPr lang="en-US" sz="1300" b="1" dirty="0">
                <a:solidFill>
                  <a:schemeClr val="bg1"/>
                </a:solidFill>
              </a:rPr>
              <a:t>Finding</a:t>
            </a:r>
            <a:endParaRPr lang="en-US" sz="1300" dirty="0"/>
          </a:p>
        </p:txBody>
      </p:sp>
      <p:sp>
        <p:nvSpPr>
          <p:cNvPr id="13" name="Text 11"/>
          <p:cNvSpPr txBox="1"/>
          <p:nvPr/>
        </p:nvSpPr>
        <p:spPr>
          <a:xfrm>
            <a:off x="4800600" y="1920240"/>
            <a:ext cx="3566160" cy="685800"/>
          </a:xfrm>
          <a:prstGeom prst="rect">
            <a:avLst/>
          </a:prstGeom>
          <a:noFill/>
          <a:ln/>
        </p:spPr>
        <p:txBody>
          <a:bodyPr wrap="square" lIns="0" tIns="0" rIns="0" bIns="0" rtlCol="0" anchor="t"/>
          <a:lstStyle/>
          <a:p>
            <a:pPr indent="0" marL="0">
              <a:buNone/>
            </a:pPr>
            <a:r>
              <a:rPr lang="en-US" sz="1050" dirty="0">
                <a:solidFill>
                  <a:schemeClr val="accent6"/>
                </a:solidFill>
              </a:rPr>
              <a:t>Taken literally, Eq. 13 is unstable: whole architectures collapse after round 2. We also found and fixed one IKD masking bug of our own.</a:t>
            </a:r>
            <a:endParaRPr lang="en-US" sz="1050" dirty="0"/>
          </a:p>
        </p:txBody>
      </p:sp>
      <p:sp>
        <p:nvSpPr>
          <p:cNvPr id="14" name="Shape 12"/>
          <p:cNvSpPr/>
          <p:nvPr/>
        </p:nvSpPr>
        <p:spPr>
          <a:xfrm>
            <a:off x="548640" y="2788920"/>
            <a:ext cx="3886200" cy="1280160"/>
          </a:xfrm>
          <a:prstGeom prst="roundRect">
            <a:avLst>
              <a:gd name="adj" fmla="val 4286"/>
            </a:avLst>
          </a:prstGeom>
          <a:solidFill>
            <a:srgbClr val="2C3B63"/>
          </a:solidFill>
          <a:ln w="12700">
            <a:solidFill>
              <a:srgbClr val="2C3B63"/>
            </a:solidFill>
            <a:prstDash val="solid"/>
          </a:ln>
        </p:spPr>
      </p:sp>
      <p:sp>
        <p:nvSpPr>
          <p:cNvPr id="15" name="Shape 13"/>
          <p:cNvSpPr/>
          <p:nvPr/>
        </p:nvSpPr>
        <p:spPr>
          <a:xfrm>
            <a:off x="713232" y="2953512"/>
            <a:ext cx="292608" cy="292608"/>
          </a:xfrm>
          <a:prstGeom prst="ellipse">
            <a:avLst/>
          </a:prstGeom>
          <a:solidFill>
            <a:schemeClr val="accent1"/>
          </a:solidFill>
          <a:ln w="12700">
            <a:solidFill>
              <a:schemeClr val="accent1"/>
            </a:solidFill>
            <a:prstDash val="solid"/>
          </a:ln>
        </p:spPr>
      </p:sp>
      <p:sp>
        <p:nvSpPr>
          <p:cNvPr id="16" name="Text 14"/>
          <p:cNvSpPr txBox="1"/>
          <p:nvPr/>
        </p:nvSpPr>
        <p:spPr>
          <a:xfrm>
            <a:off x="713232" y="2953512"/>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Text 15"/>
          <p:cNvSpPr txBox="1"/>
          <p:nvPr/>
        </p:nvSpPr>
        <p:spPr>
          <a:xfrm>
            <a:off x="1115568" y="2953512"/>
            <a:ext cx="3108960" cy="292608"/>
          </a:xfrm>
          <a:prstGeom prst="rect">
            <a:avLst/>
          </a:prstGeom>
          <a:noFill/>
          <a:ln/>
        </p:spPr>
        <p:txBody>
          <a:bodyPr wrap="square" lIns="0" tIns="0" rIns="0" bIns="0" rtlCol="0" anchor="ctr"/>
          <a:lstStyle/>
          <a:p>
            <a:pPr indent="0" marL="0">
              <a:buNone/>
            </a:pPr>
            <a:r>
              <a:rPr lang="en-US" sz="1300" b="1" dirty="0">
                <a:solidFill>
                  <a:schemeClr val="bg1"/>
                </a:solidFill>
              </a:rPr>
              <a:t>Result</a:t>
            </a:r>
            <a:endParaRPr lang="en-US" sz="1300" dirty="0"/>
          </a:p>
        </p:txBody>
      </p:sp>
      <p:sp>
        <p:nvSpPr>
          <p:cNvPr id="18" name="Text 16"/>
          <p:cNvSpPr txBox="1"/>
          <p:nvPr/>
        </p:nvSpPr>
        <p:spPr>
          <a:xfrm>
            <a:off x="731520" y="3337560"/>
            <a:ext cx="3566160" cy="685800"/>
          </a:xfrm>
          <a:prstGeom prst="rect">
            <a:avLst/>
          </a:prstGeom>
          <a:noFill/>
          <a:ln/>
        </p:spPr>
        <p:txBody>
          <a:bodyPr wrap="square" lIns="0" tIns="0" rIns="0" bIns="0" rtlCol="0" anchor="t"/>
          <a:lstStyle/>
          <a:p>
            <a:pPr indent="0" marL="0">
              <a:buNone/>
            </a:pPr>
            <a:r>
              <a:rPr lang="en-US" sz="1050" dirty="0">
                <a:solidFill>
                  <a:schemeClr val="accent6"/>
                </a:solidFill>
              </a:rPr>
              <a:t>FedGDBD-S: 87.10 % (CIFAR-10) and 43.74 % (CIFAR-100), best of all methods we ran; +0.7 / +1.0 pt over LG-FedAvg, 0.8 / 1.35 pt below the paper.</a:t>
            </a:r>
            <a:endParaRPr lang="en-US" sz="1050" dirty="0"/>
          </a:p>
        </p:txBody>
      </p:sp>
      <p:sp>
        <p:nvSpPr>
          <p:cNvPr id="19" name="Shape 17"/>
          <p:cNvSpPr/>
          <p:nvPr/>
        </p:nvSpPr>
        <p:spPr>
          <a:xfrm>
            <a:off x="4617720" y="2788920"/>
            <a:ext cx="3886200" cy="1280160"/>
          </a:xfrm>
          <a:prstGeom prst="roundRect">
            <a:avLst>
              <a:gd name="adj" fmla="val 4286"/>
            </a:avLst>
          </a:prstGeom>
          <a:solidFill>
            <a:srgbClr val="2C3B63"/>
          </a:solidFill>
          <a:ln w="12700">
            <a:solidFill>
              <a:srgbClr val="2C3B63"/>
            </a:solidFill>
            <a:prstDash val="solid"/>
          </a:ln>
        </p:spPr>
      </p:sp>
      <p:sp>
        <p:nvSpPr>
          <p:cNvPr id="20" name="Shape 18"/>
          <p:cNvSpPr/>
          <p:nvPr/>
        </p:nvSpPr>
        <p:spPr>
          <a:xfrm>
            <a:off x="4782312" y="2953512"/>
            <a:ext cx="292608" cy="292608"/>
          </a:xfrm>
          <a:prstGeom prst="ellipse">
            <a:avLst/>
          </a:prstGeom>
          <a:solidFill>
            <a:schemeClr val="accent1"/>
          </a:solidFill>
          <a:ln w="12700">
            <a:solidFill>
              <a:schemeClr val="accent1"/>
            </a:solidFill>
            <a:prstDash val="solid"/>
          </a:ln>
        </p:spPr>
      </p:sp>
      <p:sp>
        <p:nvSpPr>
          <p:cNvPr id="21" name="Text 19"/>
          <p:cNvSpPr txBox="1"/>
          <p:nvPr/>
        </p:nvSpPr>
        <p:spPr>
          <a:xfrm>
            <a:off x="4782312" y="2953512"/>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2" name="Text 20"/>
          <p:cNvSpPr txBox="1"/>
          <p:nvPr/>
        </p:nvSpPr>
        <p:spPr>
          <a:xfrm>
            <a:off x="5184648" y="2953512"/>
            <a:ext cx="3108960" cy="292608"/>
          </a:xfrm>
          <a:prstGeom prst="rect">
            <a:avLst/>
          </a:prstGeom>
          <a:noFill/>
          <a:ln/>
        </p:spPr>
        <p:txBody>
          <a:bodyPr wrap="square" lIns="0" tIns="0" rIns="0" bIns="0" rtlCol="0" anchor="ctr"/>
          <a:lstStyle/>
          <a:p>
            <a:pPr indent="0" marL="0">
              <a:buNone/>
            </a:pPr>
            <a:r>
              <a:rPr lang="en-US" sz="1300" b="1" dirty="0">
                <a:solidFill>
                  <a:schemeClr val="bg1"/>
                </a:solidFill>
              </a:rPr>
              <a:t>Limits and next</a:t>
            </a:r>
            <a:endParaRPr lang="en-US" sz="1300" dirty="0"/>
          </a:p>
        </p:txBody>
      </p:sp>
      <p:sp>
        <p:nvSpPr>
          <p:cNvPr id="23" name="Text 21"/>
          <p:cNvSpPr txBox="1"/>
          <p:nvPr/>
        </p:nvSpPr>
        <p:spPr>
          <a:xfrm>
            <a:off x="4800600" y="3337560"/>
            <a:ext cx="3566160" cy="685800"/>
          </a:xfrm>
          <a:prstGeom prst="rect">
            <a:avLst/>
          </a:prstGeom>
          <a:noFill/>
          <a:ln/>
        </p:spPr>
        <p:txBody>
          <a:bodyPr wrap="square" lIns="0" tIns="0" rIns="0" bIns="0" rtlCol="0" anchor="t"/>
          <a:lstStyle/>
          <a:p>
            <a:pPr indent="0" marL="0">
              <a:buNone/>
            </a:pPr>
            <a:r>
              <a:rPr lang="en-US" sz="1050" dirty="0">
                <a:solidFill>
                  <a:schemeClr val="accent6"/>
                </a:solidFill>
              </a:rPr>
              <a:t>1 seed, 50 rounds, 2 datasets, practical split only. Next: 3 seeds, pathological split, adaptive v_c / α_i, Tiny-ImageNet.</a:t>
            </a:r>
            <a:endParaRPr lang="en-US" sz="1050" dirty="0"/>
          </a:p>
        </p:txBody>
      </p:sp>
      <p:sp>
        <p:nvSpPr>
          <p:cNvPr id="24" name="Text 22"/>
          <p:cNvSpPr txBox="1"/>
          <p:nvPr/>
        </p:nvSpPr>
        <p:spPr>
          <a:xfrm>
            <a:off x="548640" y="4343400"/>
            <a:ext cx="804672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FedGDBD Navy Teal">
  <a:themeElements>
    <a:clrScheme name="FedGDBD Navy Teal">
      <a:dk1>
        <a:srgbClr val="22262E"/>
      </a:dk1>
      <a:lt1>
        <a:srgbClr val="FFFFFF"/>
      </a:lt1>
      <a:dk2>
        <a:srgbClr val="1E2A4A"/>
      </a:dk2>
      <a:lt2>
        <a:srgbClr val="E7EAF3"/>
      </a:lt2>
      <a:accent1>
        <a:srgbClr val="1C7293"/>
      </a:accent1>
      <a:accent2>
        <a:srgbClr val="5B6478"/>
      </a:accent2>
      <a:accent3>
        <a:srgbClr val="DFEDF0"/>
      </a:accent3>
      <a:accent4>
        <a:srgbClr val="D8DCE4"/>
      </a:accent4>
      <a:accent5>
        <a:srgbClr val="9AA6BF"/>
      </a:accent5>
      <a:accent6>
        <a:srgbClr val="CBD6EE"/>
      </a:accent6>
      <a:hlink>
        <a:srgbClr val="1C7293"/>
      </a:hlink>
      <a:folHlink>
        <a:srgbClr val="5B6478"/>
      </a:folHlink>
    </a:clrScheme>
    <a:fontScheme name="FedGDBD Navy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Reproducing Fed-GDBD</dc:title>
  <dc:subject>PptxGenJS Presentation</dc:subject>
  <dc:creator>D Maithreya, Maharshi Kundu, Siddhanth R Naik</dc:creator>
  <cp:lastModifiedBy>D Maithreya, Maharshi Kundu, Siddhanth R Naik</cp:lastModifiedBy>
  <cp:revision>1</cp:revision>
  <dcterms:created xsi:type="dcterms:W3CDTF">2026-10-08T07:15:34Z</dcterms:created>
  <dcterms:modified xsi:type="dcterms:W3CDTF">2026-10-08T07:15:34Z</dcterms:modified>
</cp:coreProperties>
</file>